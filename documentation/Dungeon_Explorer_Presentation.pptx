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77" r:id="rId4"/>
    <p:sldId id="279" r:id="rId5"/>
    <p:sldId id="281" r:id="rId6"/>
    <p:sldId id="260" r:id="rId7"/>
    <p:sldId id="262" r:id="rId8"/>
    <p:sldId id="263" r:id="rId9"/>
    <p:sldId id="264" r:id="rId10"/>
    <p:sldId id="265" r:id="rId11"/>
    <p:sldId id="266" r:id="rId12"/>
    <p:sldId id="267" r:id="rId13"/>
    <p:sldId id="268" r:id="rId14"/>
    <p:sldId id="269" r:id="rId15"/>
    <p:sldId id="270" r:id="rId16"/>
    <p:sldId id="271"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533"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257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presenting Dungeon Explorer, our final-year project.</a:t>
            </a:r>
          </a:p>
          <a:p>
            <a:endParaRPr/>
          </a:p>
          <a:p>
            <a:r>
              <a:t>The one-line version: a 2D dungeon action game where the dungeon is not a fixed map. It is generated, validated and personalised every single time you play it, by an AI pipeline we wrote entirely from scratch in Python's standard library. The only third-party library in the entire project is Pygame, and that is used only for drawing windows and sprites.</a:t>
            </a:r>
          </a:p>
          <a:p>
            <a:endParaRPr/>
          </a:p>
          <a:p>
            <a:r>
              <a:t>I will cover the problem, the game itself, the architecture, then spend most of the time on the AI pipeline, which is the heart of the project, and finish with testing and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frame the problem.</a:t>
            </a:r>
          </a:p>
          <a:p>
            <a:endParaRPr/>
          </a:p>
          <a:p>
            <a:r>
              <a:t>Most 2D dungeon games use fixed, hand-made maps. That has two problems. It is repetitive - you memorise the level and then there is nothing left. And it is expensive, because every new room needs a human.</a:t>
            </a:r>
          </a:p>
          <a:p>
            <a:endParaRPr/>
          </a:p>
          <a:p>
            <a:r>
              <a:t>The obvious alternative, just filling a grid with random numbers, is worse. You get maps full of pockets you can never reach and single tiles of wall floating in the middle of open space.</a:t>
            </a:r>
          </a:p>
          <a:p>
            <a:endParaRPr/>
          </a:p>
          <a:p>
            <a:r>
              <a:t>On the right are the three numbers I want you to hold on to. We measured 100% reachable on every level we generated - 30 out of 30, zero orphaned tiles. And we used zero third-party AI libraries. Everything is hand-written.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62AF7-CBDD-7728-2E76-4D5F2BFA6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F68D9-7781-78A3-30DC-2DF77CA539C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9FCD92-3C7C-C173-20D6-24E9E86BCA8E}"/>
              </a:ext>
            </a:extLst>
          </p:cNvPr>
          <p:cNvSpPr>
            <a:spLocks noGrp="1"/>
          </p:cNvSpPr>
          <p:nvPr>
            <p:ph type="body" sz="quarter" idx="3"/>
          </p:nvPr>
        </p:nvSpPr>
        <p:spPr/>
        <p:txBody>
          <a:bodyPr/>
          <a:lstStyle/>
          <a:p>
            <a:r>
              <a:t>So what is the actual game?</a:t>
            </a:r>
          </a:p>
          <a:p>
            <a:endParaRPr/>
          </a:p>
          <a:p>
            <a:r>
              <a:t>You create a profile, pick one of four classes, and press Start. At that moment a completely new 81 by 81 dungeon is built. You explore with WASD, hold Shift to sprint, and you shoot with the mouse - the angle to the cursor is split into eight sectors, so the character visibly aims where you point.</a:t>
            </a:r>
          </a:p>
          <a:p>
            <a:endParaRPr/>
          </a:p>
          <a:p>
            <a:r>
              <a:t>The objective is the Door Key. It is guarded by monster three, the Guardian, and when you kill it the key drops where it died. You take it to the door and the level completes.</a:t>
            </a:r>
          </a:p>
          <a:p>
            <a:endParaRPr/>
          </a:p>
          <a:p>
            <a:r>
              <a:t>The row on the right is the part that matters for this talk. Notice the last one - a local JSON profile that records your kills, your item usage and your last five runs. Remember that, because it is what makes the difficulty adapt later.</a:t>
            </a:r>
          </a:p>
        </p:txBody>
      </p:sp>
      <p:sp>
        <p:nvSpPr>
          <p:cNvPr id="4" name="Slide Number Placeholder 3">
            <a:extLst>
              <a:ext uri="{FF2B5EF4-FFF2-40B4-BE49-F238E27FC236}">
                <a16:creationId xmlns:a16="http://schemas.microsoft.com/office/drawing/2014/main" id="{712B1F83-AF44-A1D9-A23B-8A639D2AF947}"/>
              </a:ext>
            </a:extLst>
          </p:cNvPr>
          <p:cNvSpPr>
            <a:spLocks noGrp="1"/>
          </p:cNvSpPr>
          <p:nvPr>
            <p:ph type="sldNum" sz="quarter" idx="5"/>
          </p:nvPr>
        </p:nvSpPr>
        <p:spPr/>
      </p:sp>
    </p:spTree>
    <p:extLst>
      <p:ext uri="{BB962C8B-B14F-4D97-AF65-F5344CB8AC3E}">
        <p14:creationId xmlns:p14="http://schemas.microsoft.com/office/powerpoint/2010/main" val="1819125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A502-9776-2358-AD45-BEA20FD38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B716D-C3E2-8844-8DA1-8FCCDCACF5E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AC6490-8660-336B-863C-A15F6038DBA3}"/>
              </a:ext>
            </a:extLst>
          </p:cNvPr>
          <p:cNvSpPr>
            <a:spLocks noGrp="1"/>
          </p:cNvSpPr>
          <p:nvPr>
            <p:ph type="body" sz="quarter" idx="3"/>
          </p:nvPr>
        </p:nvSpPr>
        <p:spPr/>
        <p:txBody>
          <a:bodyPr/>
          <a:lstStyle/>
          <a:p>
            <a:r>
              <a:t>So what is the actual game?</a:t>
            </a:r>
          </a:p>
          <a:p>
            <a:endParaRPr/>
          </a:p>
          <a:p>
            <a:r>
              <a:t>You create a profile, pick one of four classes, and press Start. At that moment a completely new 81 by 81 dungeon is built. You explore with WASD, hold Shift to sprint, and you shoot with the mouse - the angle to the cursor is split into eight sectors, so the character visibly aims where you point.</a:t>
            </a:r>
          </a:p>
          <a:p>
            <a:endParaRPr/>
          </a:p>
          <a:p>
            <a:r>
              <a:t>The objective is the Door Key. It is guarded by monster three, the Guardian, and when you kill it the key drops where it died. You take it to the door and the level completes.</a:t>
            </a:r>
          </a:p>
          <a:p>
            <a:endParaRPr/>
          </a:p>
          <a:p>
            <a:r>
              <a:t>The row on the right is the part that matters for this talk. Notice the last one - a local JSON profile that records your kills, your item usage and your last five runs. Remember that, because it is what makes the difficulty adapt later.</a:t>
            </a:r>
          </a:p>
        </p:txBody>
      </p:sp>
      <p:sp>
        <p:nvSpPr>
          <p:cNvPr id="4" name="Slide Number Placeholder 3">
            <a:extLst>
              <a:ext uri="{FF2B5EF4-FFF2-40B4-BE49-F238E27FC236}">
                <a16:creationId xmlns:a16="http://schemas.microsoft.com/office/drawing/2014/main" id="{A66A3D10-A520-81B4-8D65-380547E4AEC7}"/>
              </a:ext>
            </a:extLst>
          </p:cNvPr>
          <p:cNvSpPr>
            <a:spLocks noGrp="1"/>
          </p:cNvSpPr>
          <p:nvPr>
            <p:ph type="sldNum" sz="quarter" idx="5"/>
          </p:nvPr>
        </p:nvSpPr>
        <p:spPr/>
      </p:sp>
    </p:spTree>
    <p:extLst>
      <p:ext uri="{BB962C8B-B14F-4D97-AF65-F5344CB8AC3E}">
        <p14:creationId xmlns:p14="http://schemas.microsoft.com/office/powerpoint/2010/main" val="4165900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2BF60-4466-1703-C231-1A5C08BCA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B9BC6-76D9-285C-ABFF-49AC71B1987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E0D5778-F006-B23C-1F5F-B2A200156794}"/>
              </a:ext>
            </a:extLst>
          </p:cNvPr>
          <p:cNvSpPr>
            <a:spLocks noGrp="1"/>
          </p:cNvSpPr>
          <p:nvPr>
            <p:ph type="body" sz="quarter" idx="3"/>
          </p:nvPr>
        </p:nvSpPr>
        <p:spPr/>
        <p:txBody>
          <a:bodyPr/>
          <a:lstStyle/>
          <a:p>
            <a:r>
              <a:t>So what is the actual game?</a:t>
            </a:r>
          </a:p>
          <a:p>
            <a:endParaRPr/>
          </a:p>
          <a:p>
            <a:r>
              <a:t>You create a profile, pick one of four classes, and press Start. At that moment a completely new 81 by 81 dungeon is built. You explore with WASD, hold Shift to sprint, and you shoot with the mouse - the angle to the cursor is split into eight sectors, so the character visibly aims where you point.</a:t>
            </a:r>
          </a:p>
          <a:p>
            <a:endParaRPr/>
          </a:p>
          <a:p>
            <a:r>
              <a:t>The objective is the Door Key. It is guarded by monster three, the Guardian, and when you kill it the key drops where it died. You take it to the door and the level completes.</a:t>
            </a:r>
          </a:p>
          <a:p>
            <a:endParaRPr/>
          </a:p>
          <a:p>
            <a:r>
              <a:t>The row on the right is the part that matters for this talk. Notice the last one - a local JSON profile that records your kills, your item usage and your last five runs. Remember that, because it is what makes the difficulty adapt later.</a:t>
            </a:r>
          </a:p>
        </p:txBody>
      </p:sp>
      <p:sp>
        <p:nvSpPr>
          <p:cNvPr id="4" name="Slide Number Placeholder 3">
            <a:extLst>
              <a:ext uri="{FF2B5EF4-FFF2-40B4-BE49-F238E27FC236}">
                <a16:creationId xmlns:a16="http://schemas.microsoft.com/office/drawing/2014/main" id="{31AE3629-363E-66D6-E3BE-268BBA272CC7}"/>
              </a:ext>
            </a:extLst>
          </p:cNvPr>
          <p:cNvSpPr>
            <a:spLocks noGrp="1"/>
          </p:cNvSpPr>
          <p:nvPr>
            <p:ph type="sldNum" sz="quarter" idx="5"/>
          </p:nvPr>
        </p:nvSpPr>
        <p:spPr/>
      </p:sp>
    </p:spTree>
    <p:extLst>
      <p:ext uri="{BB962C8B-B14F-4D97-AF65-F5344CB8AC3E}">
        <p14:creationId xmlns:p14="http://schemas.microsoft.com/office/powerpoint/2010/main" val="4220669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is four layers.</a:t>
            </a:r>
          </a:p>
          <a:p>
            <a:endParaRPr/>
          </a:p>
          <a:p>
            <a:r>
              <a:t>Presentation, gameplay and entities, rendering, the AI generation layer, and persistence underneath.</a:t>
            </a:r>
          </a:p>
          <a:p>
            <a:endParaRPr/>
          </a:p>
          <a:p>
            <a:r>
              <a:t>The design decision I want to highlight is on the right. The dependency arrow points in one direction only - the AI layer never imports anything from the client. That single constraint is why we were able to run statistical validation of the generator in a terminal with no display, and it is the reason we could produce hard numbers like the 30 out of 30 result.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part we are actually here to present.</a:t>
            </a:r>
          </a:p>
          <a:p>
            <a:endParaRPr/>
          </a:p>
          <a:p>
            <a:r>
              <a:t>The pipeline is eight stages. The design principle is that each stage reduces the problem rather than trying to solve it outright. Carving does not guarantee connectivity, so a separate stage verifies it. Smoothing does not guarantee the layout is interesting, so a separate stage scores it.</a:t>
            </a:r>
          </a:p>
          <a:p>
            <a:endParaRPr/>
          </a:p>
          <a:p>
            <a:r>
              <a:t>The four highlighted stages are the ones drawn from the literature review. Let me take them one at a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one, the Genetic Algorithm.</a:t>
            </a:r>
          </a:p>
          <a:p>
            <a:endParaRPr/>
          </a:p>
          <a:p>
            <a:r>
              <a:t>The key idea is that a chromosome is not an individual tile - it is a whole 81 by 81 grid. So one gene is one complete candidate dungeon, and one generation produces eight candidate dungeons.</a:t>
            </a:r>
          </a:p>
          <a:p>
            <a:endParaRPr/>
          </a:p>
          <a:p>
            <a:r>
              <a:t>Four things are worth calling out. We use elitism, so the best two survive untouched and fitness can never go backwards. We use two-point region crossover rather than uniform crossover, because swapping large contiguous blocks preserves each parent's flood-fill character instead of producing a noisy patchwork.</a:t>
            </a:r>
          </a:p>
          <a:p>
            <a:endParaRPr/>
          </a:p>
          <a:p>
            <a:r>
              <a:t>And the mutation rate ramps from 0.06 to 0.12. That was a fix, not a design choice - with a fixed low rate the population kept collapsing onto the same layout, so we made it explore more in later generations.</a:t>
            </a:r>
          </a:p>
          <a:p>
            <a:endParaRPr/>
          </a:p>
          <a:p>
            <a:r>
              <a:t>You can see the effect in the table. Best fitness climbs 7.252, 7.288, 7.310, then dips slightly in generation three. That dip is expected - it is the higher mutation rate trading individual strength for diversity. And because elitism keeps the best ever seen, the final map is the best of everything we evaluated, not the last thing produced. Notice the last column never leaves 1.000.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three, cellular automata. This one is short but it is what makes the map look organic.</a:t>
            </a:r>
          </a:p>
          <a:p>
            <a:endParaRPr/>
          </a:p>
          <a:p>
            <a:r>
              <a:t>We use a 3 by 3 neighbourhood and three rules. Five or more wall neighbours and you become wall - that removes the single-tile pillars that random noise always produces. Water near open space becomes floor, and traps in open areas survive because they are only meaningful out in the open.</a:t>
            </a:r>
          </a:p>
          <a:p>
            <a:endParaRPr/>
          </a:p>
          <a:p>
            <a:r>
              <a:t>One implementation detail that took us a second attempt: the update has to be synchronous. It reads from the current grid and writes to a separate next grid, exactly like Conway's Game of Life. My first version updated in place, which is faster but means the result depends on the order you scan the cells in - so the same seed would not give you the same map. That broke reproducibility, which we wanted, so we fixed it.</a:t>
            </a:r>
          </a:p>
          <a:p>
            <a:endParaRPr/>
          </a:p>
          <a:p>
            <a:r>
              <a:t>Look at the picture. Panel (a) is the genetic noise. Panel (b) is after carving - that is the single biggest transformation in the whole pipeline. Panel (c) is after two smoothing steps, where you can see the water and trap tiles being absorbed into the floor.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I would defend the project on.</a:t>
            </a:r>
          </a:p>
          <a:p>
            <a:endParaRPr/>
          </a:p>
          <a:p>
            <a:r>
              <a:t>Smoothing and carving guarantee neither that the map is connected nor that the player can reach the exit. So we flood-fill from the spawn with BFS, using collections.deque as the queue, and we get two things for free: how much of the map is reachable, and a distance map that tells us how far everything is.</a:t>
            </a:r>
          </a:p>
          <a:p>
            <a:endParaRPr/>
          </a:p>
          <a:p>
            <a:r>
              <a:t>Then we do the part the commercial games do not. Terraria and Minecraft both check connectivity and log a warning. We repair it - for every orphaned tile, we carve a corridor to the nearest reachable one and recompute. Because we process orphans in order of increasing distance from the spawn, a single carve usually reconnects several at once, so it converges in a couple of passes.</a:t>
            </a:r>
          </a:p>
          <a:p>
            <a:endParaRPr/>
          </a:p>
          <a:p>
            <a:r>
              <a:t>The measured result: reachable ratio of exactly 1.0000 on all 30 levels we validated. Zero orphaned tiles. That is what turns an interesting experiment into a playable game.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has two jobs in this project, and they are different.</a:t>
            </a:r>
          </a:p>
          <a:p>
            <a:endParaRPr/>
          </a:p>
          <a:p>
            <a:r>
              <a:t>During generation it is a gate. Before we commit a monster to a position we ask: is there a path from the spawn to there? If not, we do not place it. So we never place an entity somewhere it could never reach.</a:t>
            </a:r>
          </a:p>
          <a:p>
            <a:endParaRPr/>
          </a:p>
          <a:p>
            <a:r>
              <a:t>During gameplay it is the monsters' navigation, and that is what makes them look intelligent instead of walking through walls.</a:t>
            </a:r>
          </a:p>
          <a:p>
            <a:endParaRPr/>
          </a:p>
          <a:p>
            <a:r>
              <a:t>The table on the right is the point I want to make. A* and BFS are not alternatives - they answer different questions. A* answers 'what is the shortest path to this one goal', and it does that two to three orders of magnitude faster because the heuristic lets it throw away most of the map without exploring it. BFS answers 'what is the entire reachable region', and you cannot prune that. If you used BFS where A* was needed, or the reverse, you would be wrong. We use each where it belongs.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Decision Tree, and it is where personalisation happens.</a:t>
            </a:r>
          </a:p>
          <a:p>
            <a:endParaRPr/>
          </a:p>
          <a:p>
            <a:r>
              <a:t>It is a decision tree over the single most informative attribute we have - the player's level. Three leaves, three different design intentions.</a:t>
            </a:r>
          </a:p>
          <a:p>
            <a:endParaRPr/>
          </a:p>
          <a:p>
            <a:r>
              <a:t>For a new player, level one or two, we want a small forgiving dungeon. The open-space target is 0.42, the tightest, and there is a penalty proportional to the tile count that actively prefers the smallest map that is still fully connected. Without that penalty the optimiser would just pick the biggest map that hits the target ratio.</a:t>
            </a:r>
          </a:p>
          <a:p>
            <a:endParaRPr/>
          </a:p>
          <a:p>
            <a:r>
              <a:t>For level six and above we flip it: 0.62, and the tile-count term becomes a bonus, so more open space is now a virtue.</a:t>
            </a:r>
          </a:p>
          <a:p>
            <a:endParaRPr/>
          </a:p>
          <a:p>
            <a:r>
              <a:t>Two things make this robust rather than fragile. The reachable ratio always carries the biggest weight, so playability outranks aesthetics. And the open-ratio term is a plateau - maximal at the target, falling off linearly - so a near miss is penalised gently rather than rejected.</a:t>
            </a:r>
          </a:p>
          <a:p>
            <a:endParaRPr/>
          </a:p>
          <a:p>
            <a:r>
              <a:t>And it measurably works. New players get 0.296 open ratio, experienced players get 0.358. That is a 21% wider dungeon, and it is measured over 20 runs each, not assumed.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Level is a good proxy for skill, but it has a blind spot. A level-5 player who dies on every single attempt looks exactly the same to the fitness function as a level-5 player who clears easily. Association rule mining fixes that.</a:t>
            </a:r>
          </a:p>
          <a:p>
            <a:endParaRPr/>
          </a:p>
          <a:p>
            <a:r>
              <a:t>Every completed run is recorded as a transaction - the outcome, a performance band, and the items you picked up. We take the last five and evaluate two candidate rules: high kill count implies a clear, low kill count implies a loss.</a:t>
            </a:r>
          </a:p>
          <a:p>
            <a:endParaRPr/>
          </a:p>
          <a:p>
            <a:r>
              <a:t>Then we combine the rule confidence with a loss-streak count. Lose two in a row with a low-kill-loss rule and we multiply the monster limit by 1.35, plus five percent for each extra loss. Clear consistently and we multiply by 1.15.</a:t>
            </a:r>
          </a:p>
          <a:p>
            <a:endParaRPr/>
          </a:p>
          <a:p>
            <a:r>
              <a:t>The table shows it working: a losing streak gets 17 monsters instead of 12, roughly 30% less simultaneous pressure. A winning streak gets 14. Mixed history falls back to the default of 12.</a:t>
            </a:r>
          </a:p>
          <a:p>
            <a:endParaRPr/>
          </a:p>
          <a:p>
            <a:r>
              <a:t>I want to be honest about the limitation here - five transactions is a small sample, so these confidences are only indicative. That is exactly why we clamp the result to between 1 and 18 and use conservative thresholds. The system can nudge difficulty, but it can never shock the player.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monsters use a finite state machine - four states - combined with A*, tuned per type through parameters rather than separate logic. This follows the F.E.A.R. and Pac-Man pattern from our literature review.</a:t>
            </a:r>
          </a:p>
          <a:p>
            <a:endParaRPr/>
          </a:p>
          <a:p>
            <a:r>
              <a:t>Dormant means the monster does not think at all. It performs no distance calculation and moves not at all. That is what makes exploring safe until you walk into something.</a:t>
            </a:r>
          </a:p>
          <a:p>
            <a:endParaRPr/>
          </a:p>
          <a:p>
            <a:r>
              <a:t>When you get within four tiles it wakes, then it chases using a real A* path, then attacks when in range, then goes back to chasing.</a:t>
            </a:r>
          </a:p>
          <a:p>
            <a:endParaRPr/>
          </a:p>
          <a:p>
            <a:r>
              <a:t>Three design points I would highlight. Monster one stops chasing the moment the door is open - there is no point hunting a player who has already won. Monster three's leash is enforced inside the movement step, before it commits to a tile, so it can never wander off and strand the key you need. And environmental kills are recorded through exactly the same code path as a projectile kill, so if you lure a monster into lava you still get the experience and the kill is still in your statistics. That turned out to be a genuinely useful tactic.</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on the data side. Everything lives in one JSON file - no server, no database engine.</a:t>
            </a:r>
          </a:p>
          <a:p>
            <a:endParaRPr/>
          </a:p>
          <a:p>
            <a:r>
              <a:t>The run rollback is the interesting part. At the start of every level we deep-copy the profile, items and equipped slots into a baseline. If you die, we restore that baseline and then selectively re-apply the things that should survive a failed attempt - your coins, your item usage statistics, and the run counter. So dying costs you the level and the experience, but never your inventory. That is fair and predictable, and it took two attempts to get the baseline copy complete.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standard analysis diagrams. The context diagram on the left, the use case diagram on the right.</a:t>
            </a:r>
          </a:p>
          <a:p>
            <a:endParaRPr/>
          </a:p>
          <a:p>
            <a:r>
              <a:t>One note on honesty: the data flow diagrams we originally drew for this project included a Server process, because the earlier Java version of this game was multiplayer. We deliberately removed the networking so we could concentrate on the AI, and in the final build that Server is collapsed into the local session and its JSON store. We redrew the diagrams to match what we actually built.</a:t>
            </a:r>
          </a:p>
          <a:p>
            <a:endParaRPr/>
          </a:p>
          <a:p>
            <a:r>
              <a:t>The most important flow in the whole system is the one in the blue box - the game engine feeds the player's recorded level, kill history and item usage back into the map generator. That arrow is the entire feedback loop, drawn as a data flow.</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challenges worth mentioning, because they are the parts a technical audience will probe.</a:t>
            </a:r>
          </a:p>
          <a:p>
            <a:endParaRPr/>
          </a:p>
          <a:p>
            <a:r>
              <a:t>The big one is the first. Randomness does not produce good maps. The fix was architectural - stop treating carving as the whole answer and split the responsibility across four stages.</a:t>
            </a:r>
          </a:p>
          <a:p>
            <a:endParaRPr/>
          </a:p>
          <a:p>
            <a:r>
              <a:t>The fourth one is the one I would emphasise for anyone doing quantitative work. Our first attempt at personalisation appeared to do nothing, because we compared single generated maps and the random seed dominated the result. Only when we averaged over twenty runs per band did the real twenty-one percent difference appear. Measure distributions, not single samples - that lesson applies well beyond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a:t>
            </a:r>
          </a:p>
          <a:p>
            <a:endParaRPr/>
          </a:p>
          <a:p>
            <a:r>
              <a:t>We built a complete, playable game. Every level is new and every level is guaranteed playable - verified at exactly 1.0 reachable ratio across thirty levels. We implemented six AI and data-mining techniques from scratch in the standard library, and the only third-party dependency in the whole project is Pygame, which only draws.</a:t>
            </a:r>
          </a:p>
          <a:p>
            <a:endParaRPr/>
          </a:p>
          <a:p>
            <a:r>
              <a:t>And the loop is closed: the game records what the player does, mines it for patterns, and feeds it back into generation. That is the idea we are most pleased with.</a:t>
            </a:r>
          </a:p>
          <a:p>
            <a:endParaRPr/>
          </a:p>
          <a:p>
            <a:r>
              <a:t>On the right, honestly, is what we did not do. The one I would fix first is deleting the legacy generator - it is dead code carrying tile constants that contradict the live ones, and that is a real maintenance hazard. Widening the history window is the one that would make the adaptive difficulty genuinely reliable rather than indicative.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are happy to take questions.</a:t>
            </a:r>
          </a:p>
          <a:p>
            <a:endParaRPr/>
          </a:p>
          <a:p>
            <a:r>
              <a:t>Anticipated questions and short answers:</a:t>
            </a:r>
          </a:p>
          <a:p>
            <a:r>
              <a:t>- Why not use an existing AI library? Because the brief was to demonstrate the algorithms, and writing them ourselves made each one inspectable and tunable. Python's standard library supplied everything needed.</a:t>
            </a:r>
          </a:p>
          <a:p>
            <a:r>
              <a:t>- How long does generation take? About 1.3 seconds, hidden behind a 3.5-second reveal animation.</a:t>
            </a:r>
          </a:p>
          <a:p>
            <a:r>
              <a:t>- Is the adaptive difficulty actually noticeable? The layout difference is about 21% open ratio and the monster count moves 12 to 17, so yes - but it is deliberately capped so it never feels unfair.</a:t>
            </a:r>
          </a:p>
          <a:p>
            <a:r>
              <a:t>- Could the five-run history window be a problem? Yes - we documented it as a limitation, and the monster limit is hard-clamped to 1-18 so a small sample cannot produce an extreme result.</a:t>
            </a:r>
          </a:p>
          <a:p>
            <a:r>
              <a:t>- Why is the networking gone? It was in the earlier Java version. We removed it deliberately to concentrate on the AI, and we redrew the data flow diagrams to match the single-player build we actually shipped.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828"/>
        </a:solidFill>
        <a:effectLst/>
      </p:bgPr>
    </p:bg>
    <p:spTree>
      <p:nvGrpSpPr>
        <p:cNvPr id="1" name=""/>
        <p:cNvGrpSpPr/>
        <p:nvPr/>
      </p:nvGrpSpPr>
      <p:grpSpPr>
        <a:xfrm>
          <a:off x="0" y="0"/>
          <a:ext cx="0" cy="0"/>
          <a:chOff x="0" y="0"/>
          <a:chExt cx="0" cy="0"/>
        </a:xfrm>
      </p:grpSpPr>
      <p:sp>
        <p:nvSpPr>
          <p:cNvPr id="2" name="Rounded Rectangle 1"/>
          <p:cNvSpPr/>
          <p:nvPr/>
        </p:nvSpPr>
        <p:spPr>
          <a:xfrm>
            <a:off x="0" y="0"/>
            <a:ext cx="274320" cy="6858000"/>
          </a:xfrm>
          <a:prstGeom prst="roundRect">
            <a:avLst>
              <a:gd name="adj" fmla="val 12000"/>
            </a:avLst>
          </a:prstGeom>
          <a:solidFill>
            <a:srgbClr val="B85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25880"/>
            <a:ext cx="10424160" cy="457200"/>
          </a:xfrm>
          <a:prstGeom prst="rect">
            <a:avLst/>
          </a:prstGeom>
          <a:noFill/>
        </p:spPr>
        <p:txBody>
          <a:bodyPr wrap="square">
            <a:spAutoFit/>
          </a:bodyPr>
          <a:lstStyle/>
          <a:p>
            <a:r>
              <a:rPr sz="1400" b="1" dirty="0">
                <a:solidFill>
                  <a:srgbClr val="E89B5A"/>
                </a:solidFill>
                <a:latin typeface="Segoe UI"/>
              </a:rPr>
              <a:t>PROJECT REPORT  ·  PROJECT VI (BIT356CO)</a:t>
            </a:r>
          </a:p>
        </p:txBody>
      </p:sp>
      <p:sp>
        <p:nvSpPr>
          <p:cNvPr id="4" name="TextBox 3"/>
          <p:cNvSpPr txBox="1"/>
          <p:nvPr/>
        </p:nvSpPr>
        <p:spPr>
          <a:xfrm>
            <a:off x="914400" y="1874519"/>
            <a:ext cx="10424160" cy="1097280"/>
          </a:xfrm>
          <a:prstGeom prst="rect">
            <a:avLst/>
          </a:prstGeom>
          <a:noFill/>
        </p:spPr>
        <p:txBody>
          <a:bodyPr wrap="square">
            <a:spAutoFit/>
          </a:bodyPr>
          <a:lstStyle/>
          <a:p>
            <a:r>
              <a:rPr sz="5400" b="1">
                <a:solidFill>
                  <a:srgbClr val="FFFFFF"/>
                </a:solidFill>
                <a:latin typeface="Segoe UI"/>
              </a:rPr>
              <a:t>Dungeon Explorer</a:t>
            </a:r>
          </a:p>
        </p:txBody>
      </p:sp>
      <p:sp>
        <p:nvSpPr>
          <p:cNvPr id="11" name="TextBox 10"/>
          <p:cNvSpPr txBox="1"/>
          <p:nvPr/>
        </p:nvSpPr>
        <p:spPr>
          <a:xfrm>
            <a:off x="914400" y="5149493"/>
            <a:ext cx="10058400" cy="795089"/>
          </a:xfrm>
          <a:prstGeom prst="rect">
            <a:avLst/>
          </a:prstGeom>
          <a:noFill/>
        </p:spPr>
        <p:txBody>
          <a:bodyPr wrap="square">
            <a:spAutoFit/>
          </a:bodyPr>
          <a:lstStyle/>
          <a:p>
            <a:pPr>
              <a:spcAft>
                <a:spcPts val="400"/>
              </a:spcAft>
            </a:pPr>
            <a:r>
              <a:rPr sz="1300" dirty="0">
                <a:solidFill>
                  <a:srgbClr val="D4DCEE"/>
                </a:solidFill>
                <a:latin typeface="Segoe UI"/>
              </a:rPr>
              <a:t>Alisha Shahi (</a:t>
            </a:r>
            <a:r>
              <a:rPr sz="1300">
                <a:solidFill>
                  <a:srgbClr val="D4DCEE"/>
                </a:solidFill>
                <a:latin typeface="Segoe UI"/>
              </a:rPr>
              <a:t>360801)  </a:t>
            </a:r>
            <a:endParaRPr lang="en-US" sz="1300" dirty="0">
              <a:solidFill>
                <a:srgbClr val="D4DCEE"/>
              </a:solidFill>
              <a:latin typeface="Segoe UI"/>
            </a:endParaRPr>
          </a:p>
          <a:p>
            <a:pPr>
              <a:spcAft>
                <a:spcPts val="400"/>
              </a:spcAft>
            </a:pPr>
            <a:r>
              <a:rPr sz="1300" dirty="0">
                <a:solidFill>
                  <a:srgbClr val="D4DCEE"/>
                </a:solidFill>
                <a:latin typeface="Segoe UI"/>
              </a:rPr>
              <a:t>Bhavishek Lama (360805)    </a:t>
            </a:r>
            <a:endParaRPr lang="en-US" sz="1300" dirty="0">
              <a:solidFill>
                <a:srgbClr val="D4DCEE"/>
              </a:solidFill>
              <a:latin typeface="Segoe UI"/>
            </a:endParaRPr>
          </a:p>
          <a:p>
            <a:pPr>
              <a:spcAft>
                <a:spcPts val="400"/>
              </a:spcAft>
            </a:pPr>
            <a:r>
              <a:rPr sz="1300" dirty="0">
                <a:solidFill>
                  <a:srgbClr val="D4DCEE"/>
                </a:solidFill>
                <a:latin typeface="Segoe UI"/>
              </a:rPr>
              <a:t>Riya Phuyal (360828)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12989"/>
            <a:ext cx="10881360" cy="553998"/>
          </a:xfrm>
          <a:prstGeom prst="rect">
            <a:avLst/>
          </a:prstGeom>
          <a:noFill/>
        </p:spPr>
        <p:txBody>
          <a:bodyPr wrap="square" lIns="0" tIns="0" rIns="0" bIns="0">
            <a:spAutoFit/>
          </a:bodyPr>
          <a:lstStyle/>
          <a:p>
            <a:r>
              <a:rPr sz="2800" b="1" dirty="0">
                <a:solidFill>
                  <a:srgbClr val="141828"/>
                </a:solidFill>
                <a:latin typeface="Segoe UI"/>
              </a:rPr>
              <a:t>The </a:t>
            </a:r>
            <a:r>
              <a:rPr sz="3600" b="1" dirty="0">
                <a:solidFill>
                  <a:srgbClr val="141828"/>
                </a:solidFill>
                <a:latin typeface="Segoe UI"/>
              </a:rPr>
              <a:t>Problem</a:t>
            </a:r>
            <a:endParaRPr sz="2800" b="1" dirty="0">
              <a:solidFill>
                <a:srgbClr val="141828"/>
              </a:solidFill>
              <a:latin typeface="Segoe UI"/>
            </a:endParaRPr>
          </a:p>
        </p:txBody>
      </p:sp>
      <p:sp>
        <p:nvSpPr>
          <p:cNvPr id="4" name="TextBox 3"/>
          <p:cNvSpPr txBox="1"/>
          <p:nvPr/>
        </p:nvSpPr>
        <p:spPr>
          <a:xfrm>
            <a:off x="768096" y="1021499"/>
            <a:ext cx="10881360" cy="246221"/>
          </a:xfrm>
          <a:prstGeom prst="rect">
            <a:avLst/>
          </a:prstGeom>
          <a:noFill/>
        </p:spPr>
        <p:txBody>
          <a:bodyPr wrap="square" lIns="0" tIns="0" rIns="0" bIns="0">
            <a:spAutoFit/>
          </a:bodyPr>
          <a:lstStyle/>
          <a:p>
            <a:r>
              <a:rPr sz="1600" i="1" dirty="0">
                <a:solidFill>
                  <a:srgbClr val="5A6076"/>
                </a:solidFill>
                <a:latin typeface="Segoe UI"/>
              </a:rPr>
              <a:t>Why hand-made maps run out of fun</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3 / 21</a:t>
            </a:r>
          </a:p>
        </p:txBody>
      </p:sp>
      <p:sp>
        <p:nvSpPr>
          <p:cNvPr id="6" name="TextBox 5"/>
          <p:cNvSpPr txBox="1"/>
          <p:nvPr/>
        </p:nvSpPr>
        <p:spPr>
          <a:xfrm>
            <a:off x="749808" y="1806728"/>
            <a:ext cx="10453012" cy="3244543"/>
          </a:xfrm>
          <a:prstGeom prst="rect">
            <a:avLst/>
          </a:prstGeom>
          <a:noFill/>
        </p:spPr>
        <p:txBody>
          <a:bodyPr wrap="square" lIns="18288" tIns="0" rIns="18288" bIns="0">
            <a:spAutoFit/>
          </a:bodyPr>
          <a:lstStyle/>
          <a:p>
            <a:pPr marL="219456" indent="-219456" algn="l">
              <a:lnSpc>
                <a:spcPct val="200000"/>
              </a:lnSpc>
            </a:pPr>
            <a:r>
              <a:rPr b="1" dirty="0">
                <a:solidFill>
                  <a:srgbClr val="1F4E9C"/>
                </a:solidFill>
              </a:rPr>
              <a:t>▪   </a:t>
            </a:r>
            <a:r>
              <a:rPr b="1" dirty="0">
                <a:solidFill>
                  <a:srgbClr val="141828"/>
                </a:solidFill>
                <a:latin typeface="Segoe UI"/>
              </a:rPr>
              <a:t>Repetitive gameplay</a:t>
            </a:r>
            <a:r>
              <a:rPr b="0" dirty="0">
                <a:solidFill>
                  <a:srgbClr val="141828"/>
                </a:solidFill>
                <a:latin typeface="Segoe UI"/>
              </a:rPr>
              <a:t>  —  once a player </a:t>
            </a:r>
            <a:r>
              <a:rPr b="0" dirty="0" err="1">
                <a:solidFill>
                  <a:srgbClr val="141828"/>
                </a:solidFill>
                <a:latin typeface="Segoe UI"/>
              </a:rPr>
              <a:t>memorises</a:t>
            </a:r>
            <a:r>
              <a:rPr b="0" dirty="0">
                <a:solidFill>
                  <a:srgbClr val="141828"/>
                </a:solidFill>
                <a:latin typeface="Segoe UI"/>
              </a:rPr>
              <a:t> a fixed level, replaying it adds nothing.</a:t>
            </a:r>
          </a:p>
          <a:p>
            <a:pPr marL="219456" indent="-219456" algn="l">
              <a:lnSpc>
                <a:spcPct val="200000"/>
              </a:lnSpc>
            </a:pPr>
            <a:r>
              <a:rPr b="1" dirty="0">
                <a:solidFill>
                  <a:srgbClr val="1F4E9C"/>
                </a:solidFill>
              </a:rPr>
              <a:t>▪   </a:t>
            </a:r>
            <a:r>
              <a:rPr b="1" dirty="0">
                <a:solidFill>
                  <a:srgbClr val="141828"/>
                </a:solidFill>
                <a:latin typeface="Segoe UI"/>
              </a:rPr>
              <a:t>Expensive to scale</a:t>
            </a:r>
            <a:r>
              <a:rPr b="0" dirty="0">
                <a:solidFill>
                  <a:srgbClr val="141828"/>
                </a:solidFill>
                <a:latin typeface="Segoe UI"/>
              </a:rPr>
              <a:t>  —  large hand-authored worlds need an artist or designer for every room.</a:t>
            </a:r>
          </a:p>
          <a:p>
            <a:pPr marL="219456" indent="-219456" algn="l">
              <a:lnSpc>
                <a:spcPct val="200000"/>
              </a:lnSpc>
            </a:pPr>
            <a:r>
              <a:rPr b="1" dirty="0">
                <a:solidFill>
                  <a:srgbClr val="1F4E9C"/>
                </a:solidFill>
              </a:rPr>
              <a:t>▪   </a:t>
            </a:r>
            <a:r>
              <a:rPr b="1" dirty="0">
                <a:solidFill>
                  <a:srgbClr val="141828"/>
                </a:solidFill>
                <a:latin typeface="Segoe UI"/>
              </a:rPr>
              <a:t>Random ≠ good</a:t>
            </a:r>
            <a:r>
              <a:rPr b="0" dirty="0">
                <a:solidFill>
                  <a:srgbClr val="141828"/>
                </a:solidFill>
                <a:latin typeface="Segoe UI"/>
              </a:rPr>
              <a:t>  —  filling a grid with random tiles gives unreachable pockets and single-tile noise.</a:t>
            </a:r>
          </a:p>
          <a:p>
            <a:pPr marL="219456" indent="-219456" algn="l">
              <a:lnSpc>
                <a:spcPct val="200000"/>
              </a:lnSpc>
            </a:pPr>
            <a:r>
              <a:rPr b="1" dirty="0">
                <a:solidFill>
                  <a:srgbClr val="1F4E9C"/>
                </a:solidFill>
              </a:rPr>
              <a:t>▪   </a:t>
            </a:r>
            <a:r>
              <a:rPr b="1" dirty="0">
                <a:solidFill>
                  <a:srgbClr val="141828"/>
                </a:solidFill>
                <a:latin typeface="Segoe UI"/>
              </a:rPr>
              <a:t>No playability guarantee</a:t>
            </a:r>
            <a:r>
              <a:rPr b="0" dirty="0">
                <a:solidFill>
                  <a:srgbClr val="141828"/>
                </a:solidFill>
                <a:latin typeface="Segoe UI"/>
              </a:rPr>
              <a:t>  —  nothing verifies the player can actually reach the exit.</a:t>
            </a:r>
          </a:p>
          <a:p>
            <a:pPr marL="219456" indent="-219456" algn="l">
              <a:lnSpc>
                <a:spcPct val="200000"/>
              </a:lnSpc>
            </a:pPr>
            <a:r>
              <a:rPr b="1" dirty="0">
                <a:solidFill>
                  <a:srgbClr val="1F4E9C"/>
                </a:solidFill>
              </a:rPr>
              <a:t>▪   </a:t>
            </a:r>
            <a:r>
              <a:rPr b="1" dirty="0">
                <a:solidFill>
                  <a:srgbClr val="141828"/>
                </a:solidFill>
                <a:latin typeface="Segoe UI"/>
              </a:rPr>
              <a:t>Fixed difficulty</a:t>
            </a:r>
            <a:r>
              <a:rPr b="0" dirty="0">
                <a:solidFill>
                  <a:srgbClr val="141828"/>
                </a:solidFill>
                <a:latin typeface="Segoe UI"/>
              </a:rPr>
              <a:t>  —  the same challenge for a first-timer and a hundredth-time player.</a:t>
            </a:r>
          </a:p>
          <a:p>
            <a:pPr marL="219456" indent="-219456" algn="l">
              <a:lnSpc>
                <a:spcPct val="200000"/>
              </a:lnSpc>
            </a:pPr>
            <a:r>
              <a:rPr b="1" dirty="0">
                <a:solidFill>
                  <a:srgbClr val="1F4E9C"/>
                </a:solidFill>
              </a:rPr>
              <a:t>▪   </a:t>
            </a:r>
            <a:r>
              <a:rPr b="1" dirty="0" err="1">
                <a:solidFill>
                  <a:srgbClr val="141828"/>
                </a:solidFill>
                <a:latin typeface="Segoe UI"/>
              </a:rPr>
              <a:t>Behaviour</a:t>
            </a:r>
            <a:r>
              <a:rPr b="1" dirty="0">
                <a:solidFill>
                  <a:srgbClr val="141828"/>
                </a:solidFill>
                <a:latin typeface="Segoe UI"/>
              </a:rPr>
              <a:t> is discarded</a:t>
            </a:r>
            <a:r>
              <a:rPr b="0" dirty="0">
                <a:solidFill>
                  <a:srgbClr val="141828"/>
                </a:solidFill>
                <a:latin typeface="Segoe UI"/>
              </a:rPr>
              <a:t>  —  play data is thrown away, so nothing is ever learned.</a:t>
            </a:r>
          </a:p>
        </p:txBody>
      </p:sp>
      <p:sp>
        <p:nvSpPr>
          <p:cNvPr id="10" name="TextBox 9"/>
          <p:cNvSpPr txBox="1"/>
          <p:nvPr/>
        </p:nvSpPr>
        <p:spPr>
          <a:xfrm>
            <a:off x="502920" y="6309360"/>
            <a:ext cx="9601200" cy="292608"/>
          </a:xfrm>
          <a:prstGeom prst="rect">
            <a:avLst/>
          </a:prstGeom>
          <a:noFill/>
        </p:spPr>
        <p:txBody>
          <a:bodyPr wrap="none" lIns="0" tIns="0" rIns="0" bIns="0">
            <a:spAutoFit/>
          </a:bodyPr>
          <a:lstStyle/>
          <a:p>
            <a:r>
              <a:rPr sz="1050" i="1">
                <a:solidFill>
                  <a:srgbClr val="5A6076"/>
                </a:solidFill>
                <a:latin typeface="Segoe UI"/>
              </a:rPr>
              <a:t>All figures on these slides are measured from the running system, not estimated.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E7F740-F109-6B8A-52E3-30E84FA2C0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C0F46F-C07C-2002-4DCA-5C3CB02EA2B9}"/>
              </a:ext>
            </a:extLst>
          </p:cNvPr>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4FC83A1-85B5-D8F5-8F32-ACCEEB8B28E4}"/>
              </a:ext>
            </a:extLst>
          </p:cNvPr>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Dungeon Explorer</a:t>
            </a:r>
          </a:p>
        </p:txBody>
      </p:sp>
      <p:sp>
        <p:nvSpPr>
          <p:cNvPr id="4" name="TextBox 3">
            <a:extLst>
              <a:ext uri="{FF2B5EF4-FFF2-40B4-BE49-F238E27FC236}">
                <a16:creationId xmlns:a16="http://schemas.microsoft.com/office/drawing/2014/main" id="{B187C8F4-A1AD-A058-26EE-790757CBC1F3}"/>
              </a:ext>
            </a:extLst>
          </p:cNvPr>
          <p:cNvSpPr txBox="1"/>
          <p:nvPr/>
        </p:nvSpPr>
        <p:spPr>
          <a:xfrm>
            <a:off x="768096" y="969264"/>
            <a:ext cx="4585139" cy="207749"/>
          </a:xfrm>
          <a:prstGeom prst="rect">
            <a:avLst/>
          </a:prstGeom>
          <a:noFill/>
        </p:spPr>
        <p:txBody>
          <a:bodyPr wrap="square" lIns="0" tIns="0" rIns="0" bIns="0">
            <a:spAutoFit/>
          </a:bodyPr>
          <a:lstStyle/>
          <a:p>
            <a:r>
              <a:rPr sz="1350" i="1">
                <a:solidFill>
                  <a:srgbClr val="5A6076"/>
                </a:solidFill>
                <a:latin typeface="Segoe UI"/>
              </a:rPr>
              <a:t>What the player actually does</a:t>
            </a:r>
          </a:p>
        </p:txBody>
      </p:sp>
      <p:sp>
        <p:nvSpPr>
          <p:cNvPr id="5" name="TextBox 4">
            <a:extLst>
              <a:ext uri="{FF2B5EF4-FFF2-40B4-BE49-F238E27FC236}">
                <a16:creationId xmlns:a16="http://schemas.microsoft.com/office/drawing/2014/main" id="{4411939E-3819-421A-0677-64393E082440}"/>
              </a:ext>
            </a:extLst>
          </p:cNvPr>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4 / 21</a:t>
            </a:r>
          </a:p>
        </p:txBody>
      </p:sp>
      <p:sp>
        <p:nvSpPr>
          <p:cNvPr id="6" name="TextBox 5">
            <a:extLst>
              <a:ext uri="{FF2B5EF4-FFF2-40B4-BE49-F238E27FC236}">
                <a16:creationId xmlns:a16="http://schemas.microsoft.com/office/drawing/2014/main" id="{4634AA96-50B0-1E23-2C8B-2B2A7D98DE3B}"/>
              </a:ext>
            </a:extLst>
          </p:cNvPr>
          <p:cNvSpPr txBox="1"/>
          <p:nvPr/>
        </p:nvSpPr>
        <p:spPr>
          <a:xfrm>
            <a:off x="777240" y="1627632"/>
            <a:ext cx="5108156" cy="3891258"/>
          </a:xfrm>
          <a:prstGeom prst="rect">
            <a:avLst/>
          </a:prstGeom>
          <a:noFill/>
        </p:spPr>
        <p:txBody>
          <a:bodyPr wrap="square" lIns="18288" tIns="0" rIns="18288" bIns="0">
            <a:spAutoFit/>
          </a:bodyPr>
          <a:lstStyle/>
          <a:p>
            <a:pPr marL="219456" indent="-219456" algn="l">
              <a:lnSpc>
                <a:spcPct val="150000"/>
              </a:lnSpc>
            </a:pPr>
            <a:r>
              <a:rPr lang="en-US" sz="1450" b="1" dirty="0">
                <a:solidFill>
                  <a:srgbClr val="1F4E9C"/>
                </a:solidFill>
              </a:rPr>
              <a:t>▪   </a:t>
            </a:r>
            <a:r>
              <a:rPr lang="en-US" sz="1550" b="0" dirty="0">
                <a:solidFill>
                  <a:srgbClr val="141828"/>
                </a:solidFill>
                <a:latin typeface="Segoe UI"/>
              </a:rPr>
              <a:t>Create a local explorer profile </a:t>
            </a:r>
          </a:p>
          <a:p>
            <a:pPr marL="219456" indent="-219456" algn="l">
              <a:lnSpc>
                <a:spcPct val="150000"/>
              </a:lnSpc>
            </a:pPr>
            <a:r>
              <a:rPr lang="en-US" sz="1450" b="1" dirty="0">
                <a:solidFill>
                  <a:srgbClr val="1F4E9C"/>
                </a:solidFill>
              </a:rPr>
              <a:t>▪   </a:t>
            </a:r>
            <a:r>
              <a:rPr lang="en-US" sz="1550" b="0" dirty="0">
                <a:solidFill>
                  <a:srgbClr val="141828"/>
                </a:solidFill>
                <a:latin typeface="Segoe UI"/>
              </a:rPr>
              <a:t>Start a game: a brand new 81 × 81 dungeon is generated on the spot</a:t>
            </a:r>
          </a:p>
          <a:p>
            <a:pPr marL="219456" indent="-219456" algn="l">
              <a:lnSpc>
                <a:spcPct val="150000"/>
              </a:lnSpc>
            </a:pPr>
            <a:r>
              <a:rPr lang="en-US" sz="1450" b="1" dirty="0">
                <a:solidFill>
                  <a:srgbClr val="1F4E9C"/>
                </a:solidFill>
              </a:rPr>
              <a:t>▪   </a:t>
            </a:r>
            <a:r>
              <a:rPr lang="en-US" sz="1550" b="0" dirty="0">
                <a:solidFill>
                  <a:srgbClr val="141828"/>
                </a:solidFill>
                <a:latin typeface="Segoe UI"/>
              </a:rPr>
              <a:t>Explore with WASD, sprint with Shift, fight with the mouse</a:t>
            </a:r>
          </a:p>
          <a:p>
            <a:pPr marL="219456" indent="-219456" algn="l">
              <a:lnSpc>
                <a:spcPct val="150000"/>
              </a:lnSpc>
            </a:pPr>
            <a:r>
              <a:rPr sz="1450" b="1" dirty="0">
                <a:solidFill>
                  <a:srgbClr val="1F4E9C"/>
                </a:solidFill>
              </a:rPr>
              <a:t>▪   </a:t>
            </a:r>
            <a:r>
              <a:rPr sz="1550" b="0" dirty="0">
                <a:solidFill>
                  <a:srgbClr val="141828"/>
                </a:solidFill>
                <a:latin typeface="Segoe UI"/>
              </a:rPr>
              <a:t>Collect keys, </a:t>
            </a:r>
            <a:r>
              <a:rPr lang="en-US" sz="1550" dirty="0">
                <a:solidFill>
                  <a:srgbClr val="141828"/>
                </a:solidFill>
                <a:latin typeface="Segoe UI"/>
              </a:rPr>
              <a:t>potions</a:t>
            </a:r>
            <a:r>
              <a:rPr sz="1550" b="0" dirty="0">
                <a:solidFill>
                  <a:srgbClr val="141828"/>
                </a:solidFill>
                <a:latin typeface="Segoe UI"/>
              </a:rPr>
              <a:t>, and treasure chests locked behind their own keys</a:t>
            </a:r>
          </a:p>
          <a:p>
            <a:pPr marL="219456" indent="-219456" algn="l">
              <a:lnSpc>
                <a:spcPct val="150000"/>
              </a:lnSpc>
            </a:pPr>
            <a:r>
              <a:rPr sz="1450" b="1" dirty="0">
                <a:solidFill>
                  <a:srgbClr val="1F4E9C"/>
                </a:solidFill>
              </a:rPr>
              <a:t>▪   </a:t>
            </a:r>
            <a:r>
              <a:rPr sz="1550" b="0" dirty="0">
                <a:solidFill>
                  <a:srgbClr val="141828"/>
                </a:solidFill>
                <a:latin typeface="Segoe UI"/>
              </a:rPr>
              <a:t>Find the Door Key — dropped by the</a:t>
            </a:r>
            <a:r>
              <a:rPr lang="en-US" sz="1550" b="0" dirty="0">
                <a:solidFill>
                  <a:srgbClr val="141828"/>
                </a:solidFill>
                <a:latin typeface="Segoe UI"/>
              </a:rPr>
              <a:t> Guardian monster</a:t>
            </a:r>
            <a:r>
              <a:rPr sz="1550" b="0" dirty="0">
                <a:solidFill>
                  <a:srgbClr val="141828"/>
                </a:solidFill>
                <a:latin typeface="Segoe UI"/>
              </a:rPr>
              <a:t> — carry it to the locked door and escape</a:t>
            </a:r>
          </a:p>
          <a:p>
            <a:pPr marL="219456" indent="-219456" algn="l">
              <a:lnSpc>
                <a:spcPct val="150000"/>
              </a:lnSpc>
            </a:pPr>
            <a:r>
              <a:rPr sz="1450" b="1" dirty="0">
                <a:solidFill>
                  <a:srgbClr val="1F4E9C"/>
                </a:solidFill>
              </a:rPr>
              <a:t>▪   </a:t>
            </a:r>
            <a:r>
              <a:rPr sz="1550" b="0" dirty="0">
                <a:solidFill>
                  <a:srgbClr val="141828"/>
                </a:solidFill>
                <a:latin typeface="Segoe UI"/>
              </a:rPr>
              <a:t>Earn experience, level up, and watch the next level adapt to how you are actually playing</a:t>
            </a:r>
          </a:p>
        </p:txBody>
      </p:sp>
      <p:sp>
        <p:nvSpPr>
          <p:cNvPr id="25" name="Rounded Rectangle 7">
            <a:extLst>
              <a:ext uri="{FF2B5EF4-FFF2-40B4-BE49-F238E27FC236}">
                <a16:creationId xmlns:a16="http://schemas.microsoft.com/office/drawing/2014/main" id="{2B312DC4-C213-A786-A66C-E3DA40D6B939}"/>
              </a:ext>
            </a:extLst>
          </p:cNvPr>
          <p:cNvSpPr/>
          <p:nvPr/>
        </p:nvSpPr>
        <p:spPr>
          <a:xfrm>
            <a:off x="6060116" y="1609685"/>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Procedural generation</a:t>
            </a:r>
          </a:p>
        </p:txBody>
      </p:sp>
      <p:sp>
        <p:nvSpPr>
          <p:cNvPr id="27" name="Rounded Rectangle 8">
            <a:extLst>
              <a:ext uri="{FF2B5EF4-FFF2-40B4-BE49-F238E27FC236}">
                <a16:creationId xmlns:a16="http://schemas.microsoft.com/office/drawing/2014/main" id="{566F7247-527C-1DA1-409E-0D8716E4417D}"/>
              </a:ext>
            </a:extLst>
          </p:cNvPr>
          <p:cNvSpPr/>
          <p:nvPr/>
        </p:nvSpPr>
        <p:spPr>
          <a:xfrm>
            <a:off x="8613648" y="1609685"/>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a:solidFill>
                  <a:srgbClr val="5A6076"/>
                </a:solidFill>
                <a:latin typeface="Segoe UI"/>
              </a:rPr>
              <a:t>GA + CA + BFS, new layout every level</a:t>
            </a:r>
          </a:p>
        </p:txBody>
      </p:sp>
      <p:sp>
        <p:nvSpPr>
          <p:cNvPr id="29" name="Rounded Rectangle 9">
            <a:extLst>
              <a:ext uri="{FF2B5EF4-FFF2-40B4-BE49-F238E27FC236}">
                <a16:creationId xmlns:a16="http://schemas.microsoft.com/office/drawing/2014/main" id="{E8353D0E-917D-BE5B-2942-789786FE7EDC}"/>
              </a:ext>
            </a:extLst>
          </p:cNvPr>
          <p:cNvSpPr/>
          <p:nvPr/>
        </p:nvSpPr>
        <p:spPr>
          <a:xfrm>
            <a:off x="6060116" y="2071457"/>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Guaranteed connectivity</a:t>
            </a:r>
          </a:p>
        </p:txBody>
      </p:sp>
      <p:sp>
        <p:nvSpPr>
          <p:cNvPr id="31" name="Rounded Rectangle 10">
            <a:extLst>
              <a:ext uri="{FF2B5EF4-FFF2-40B4-BE49-F238E27FC236}">
                <a16:creationId xmlns:a16="http://schemas.microsoft.com/office/drawing/2014/main" id="{3D967967-4763-2C74-1375-3AFD6F492BE5}"/>
              </a:ext>
            </a:extLst>
          </p:cNvPr>
          <p:cNvSpPr/>
          <p:nvPr/>
        </p:nvSpPr>
        <p:spPr>
          <a:xfrm>
            <a:off x="8613648" y="2071457"/>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a:solidFill>
                  <a:srgbClr val="5A6076"/>
                </a:solidFill>
                <a:latin typeface="Segoe UI"/>
              </a:rPr>
              <a:t>Orphaned regions are carved back in</a:t>
            </a:r>
          </a:p>
        </p:txBody>
      </p:sp>
      <p:sp>
        <p:nvSpPr>
          <p:cNvPr id="33" name="Rounded Rectangle 11">
            <a:extLst>
              <a:ext uri="{FF2B5EF4-FFF2-40B4-BE49-F238E27FC236}">
                <a16:creationId xmlns:a16="http://schemas.microsoft.com/office/drawing/2014/main" id="{6A978EF6-84F4-DF32-A3E8-AB149111537C}"/>
              </a:ext>
            </a:extLst>
          </p:cNvPr>
          <p:cNvSpPr/>
          <p:nvPr/>
        </p:nvSpPr>
        <p:spPr>
          <a:xfrm>
            <a:off x="6060116" y="2533228"/>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Finite State Machine AI</a:t>
            </a:r>
          </a:p>
        </p:txBody>
      </p:sp>
      <p:sp>
        <p:nvSpPr>
          <p:cNvPr id="35" name="Rounded Rectangle 12">
            <a:extLst>
              <a:ext uri="{FF2B5EF4-FFF2-40B4-BE49-F238E27FC236}">
                <a16:creationId xmlns:a16="http://schemas.microsoft.com/office/drawing/2014/main" id="{BC29E356-388B-7B66-06D5-A6EB8AE82504}"/>
              </a:ext>
            </a:extLst>
          </p:cNvPr>
          <p:cNvSpPr/>
          <p:nvPr/>
        </p:nvSpPr>
        <p:spPr>
          <a:xfrm>
            <a:off x="8613648" y="2533228"/>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dirty="0">
                <a:solidFill>
                  <a:srgbClr val="5A6076"/>
                </a:solidFill>
                <a:latin typeface="Segoe UI"/>
              </a:rPr>
              <a:t>3 monster types, 4 states, A* navigation</a:t>
            </a:r>
          </a:p>
        </p:txBody>
      </p:sp>
      <p:sp>
        <p:nvSpPr>
          <p:cNvPr id="37" name="Rounded Rectangle 13">
            <a:extLst>
              <a:ext uri="{FF2B5EF4-FFF2-40B4-BE49-F238E27FC236}">
                <a16:creationId xmlns:a16="http://schemas.microsoft.com/office/drawing/2014/main" id="{2B18F689-F9E9-471B-B457-2E3C0DF870B8}"/>
              </a:ext>
            </a:extLst>
          </p:cNvPr>
          <p:cNvSpPr/>
          <p:nvPr/>
        </p:nvSpPr>
        <p:spPr>
          <a:xfrm>
            <a:off x="6060116" y="2995000"/>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Environmental hazards</a:t>
            </a:r>
          </a:p>
        </p:txBody>
      </p:sp>
      <p:sp>
        <p:nvSpPr>
          <p:cNvPr id="39" name="Rounded Rectangle 14">
            <a:extLst>
              <a:ext uri="{FF2B5EF4-FFF2-40B4-BE49-F238E27FC236}">
                <a16:creationId xmlns:a16="http://schemas.microsoft.com/office/drawing/2014/main" id="{B557B153-4B1E-FD64-3179-8534D34A32B0}"/>
              </a:ext>
            </a:extLst>
          </p:cNvPr>
          <p:cNvSpPr/>
          <p:nvPr/>
        </p:nvSpPr>
        <p:spPr>
          <a:xfrm>
            <a:off x="8613648" y="2995000"/>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dirty="0">
                <a:solidFill>
                  <a:srgbClr val="5A6076"/>
                </a:solidFill>
                <a:latin typeface="Segoe UI"/>
              </a:rPr>
              <a:t>Lava, traps and water hurt monsters too</a:t>
            </a:r>
          </a:p>
        </p:txBody>
      </p:sp>
      <p:sp>
        <p:nvSpPr>
          <p:cNvPr id="41" name="Rounded Rectangle 15">
            <a:extLst>
              <a:ext uri="{FF2B5EF4-FFF2-40B4-BE49-F238E27FC236}">
                <a16:creationId xmlns:a16="http://schemas.microsoft.com/office/drawing/2014/main" id="{6B79FCA2-7C27-4AE2-79FD-5DB2E7585CBE}"/>
              </a:ext>
            </a:extLst>
          </p:cNvPr>
          <p:cNvSpPr/>
          <p:nvPr/>
        </p:nvSpPr>
        <p:spPr>
          <a:xfrm>
            <a:off x="6060116" y="3456772"/>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a:solidFill>
                  <a:srgbClr val="141828"/>
                </a:solidFill>
                <a:latin typeface="Segoe UI"/>
              </a:rPr>
              <a:t>Fog of war</a:t>
            </a:r>
          </a:p>
        </p:txBody>
      </p:sp>
      <p:sp>
        <p:nvSpPr>
          <p:cNvPr id="43" name="Rounded Rectangle 16">
            <a:extLst>
              <a:ext uri="{FF2B5EF4-FFF2-40B4-BE49-F238E27FC236}">
                <a16:creationId xmlns:a16="http://schemas.microsoft.com/office/drawing/2014/main" id="{855F4B54-B8FC-7BD8-C387-CA11D494BBAE}"/>
              </a:ext>
            </a:extLst>
          </p:cNvPr>
          <p:cNvSpPr/>
          <p:nvPr/>
        </p:nvSpPr>
        <p:spPr>
          <a:xfrm>
            <a:off x="8613648" y="3456772"/>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dirty="0">
                <a:solidFill>
                  <a:srgbClr val="5A6076"/>
                </a:solidFill>
                <a:latin typeface="Segoe UI"/>
              </a:rPr>
              <a:t>5-tile radius, removable with a Light item</a:t>
            </a:r>
          </a:p>
        </p:txBody>
      </p:sp>
      <p:sp>
        <p:nvSpPr>
          <p:cNvPr id="45" name="Rounded Rectangle 17">
            <a:extLst>
              <a:ext uri="{FF2B5EF4-FFF2-40B4-BE49-F238E27FC236}">
                <a16:creationId xmlns:a16="http://schemas.microsoft.com/office/drawing/2014/main" id="{87AB5323-08A5-96D1-D057-3078F08C1ADA}"/>
              </a:ext>
            </a:extLst>
          </p:cNvPr>
          <p:cNvSpPr/>
          <p:nvPr/>
        </p:nvSpPr>
        <p:spPr>
          <a:xfrm>
            <a:off x="6060116" y="3918544"/>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Sprint + stamina</a:t>
            </a:r>
          </a:p>
        </p:txBody>
      </p:sp>
      <p:sp>
        <p:nvSpPr>
          <p:cNvPr id="47" name="Rounded Rectangle 18">
            <a:extLst>
              <a:ext uri="{FF2B5EF4-FFF2-40B4-BE49-F238E27FC236}">
                <a16:creationId xmlns:a16="http://schemas.microsoft.com/office/drawing/2014/main" id="{FEAD28F1-DC0B-D989-665F-467053469A98}"/>
              </a:ext>
            </a:extLst>
          </p:cNvPr>
          <p:cNvSpPr/>
          <p:nvPr/>
        </p:nvSpPr>
        <p:spPr>
          <a:xfrm>
            <a:off x="8613648" y="3918544"/>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a:solidFill>
                  <a:srgbClr val="5A6076"/>
                </a:solidFill>
                <a:latin typeface="Segoe UI"/>
              </a:rPr>
              <a:t>1.8× speed, 16 stamina per second</a:t>
            </a:r>
          </a:p>
        </p:txBody>
      </p:sp>
      <p:sp>
        <p:nvSpPr>
          <p:cNvPr id="49" name="Rounded Rectangle 19">
            <a:extLst>
              <a:ext uri="{FF2B5EF4-FFF2-40B4-BE49-F238E27FC236}">
                <a16:creationId xmlns:a16="http://schemas.microsoft.com/office/drawing/2014/main" id="{EC35536A-809B-256A-85D4-5F9259C365F5}"/>
              </a:ext>
            </a:extLst>
          </p:cNvPr>
          <p:cNvSpPr/>
          <p:nvPr/>
        </p:nvSpPr>
        <p:spPr>
          <a:xfrm>
            <a:off x="6060116" y="4380316"/>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dirty="0">
                <a:solidFill>
                  <a:srgbClr val="141828"/>
                </a:solidFill>
                <a:latin typeface="Segoe UI"/>
              </a:rPr>
              <a:t>Run rollback</a:t>
            </a:r>
          </a:p>
        </p:txBody>
      </p:sp>
      <p:sp>
        <p:nvSpPr>
          <p:cNvPr id="51" name="Rounded Rectangle 20">
            <a:extLst>
              <a:ext uri="{FF2B5EF4-FFF2-40B4-BE49-F238E27FC236}">
                <a16:creationId xmlns:a16="http://schemas.microsoft.com/office/drawing/2014/main" id="{029BFDF2-5638-F74F-E7CD-5068FF34407F}"/>
              </a:ext>
            </a:extLst>
          </p:cNvPr>
          <p:cNvSpPr/>
          <p:nvPr/>
        </p:nvSpPr>
        <p:spPr>
          <a:xfrm>
            <a:off x="8613648" y="4380316"/>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dirty="0">
                <a:solidFill>
                  <a:srgbClr val="5A6076"/>
                </a:solidFill>
                <a:latin typeface="Segoe UI"/>
              </a:rPr>
              <a:t>Dying costs the level, never your inventory</a:t>
            </a:r>
          </a:p>
        </p:txBody>
      </p:sp>
      <p:sp>
        <p:nvSpPr>
          <p:cNvPr id="53" name="Rounded Rectangle 21">
            <a:extLst>
              <a:ext uri="{FF2B5EF4-FFF2-40B4-BE49-F238E27FC236}">
                <a16:creationId xmlns:a16="http://schemas.microsoft.com/office/drawing/2014/main" id="{3F1F0EB3-A6E5-C157-938C-438BF9B6F77D}"/>
              </a:ext>
            </a:extLst>
          </p:cNvPr>
          <p:cNvSpPr/>
          <p:nvPr/>
        </p:nvSpPr>
        <p:spPr>
          <a:xfrm>
            <a:off x="6060116" y="4842088"/>
            <a:ext cx="2378812" cy="36576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1">
                <a:solidFill>
                  <a:srgbClr val="141828"/>
                </a:solidFill>
                <a:latin typeface="Segoe UI"/>
              </a:rPr>
              <a:t>Local JSON profile</a:t>
            </a:r>
          </a:p>
        </p:txBody>
      </p:sp>
      <p:sp>
        <p:nvSpPr>
          <p:cNvPr id="55" name="Rounded Rectangle 22">
            <a:extLst>
              <a:ext uri="{FF2B5EF4-FFF2-40B4-BE49-F238E27FC236}">
                <a16:creationId xmlns:a16="http://schemas.microsoft.com/office/drawing/2014/main" id="{5F40FFBB-DF1C-8225-5A66-5C5BB3E9550F}"/>
              </a:ext>
            </a:extLst>
          </p:cNvPr>
          <p:cNvSpPr/>
          <p:nvPr/>
        </p:nvSpPr>
        <p:spPr>
          <a:xfrm>
            <a:off x="8613648" y="4842088"/>
            <a:ext cx="3017520" cy="36576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0" dirty="0">
                <a:solidFill>
                  <a:srgbClr val="5A6076"/>
                </a:solidFill>
                <a:latin typeface="Segoe UI"/>
              </a:rPr>
              <a:t>Level, kills, item usage, last five runs</a:t>
            </a:r>
          </a:p>
        </p:txBody>
      </p:sp>
      <p:sp>
        <p:nvSpPr>
          <p:cNvPr id="57" name="Rounded Rectangle 6">
            <a:extLst>
              <a:ext uri="{FF2B5EF4-FFF2-40B4-BE49-F238E27FC236}">
                <a16:creationId xmlns:a16="http://schemas.microsoft.com/office/drawing/2014/main" id="{234B916C-2E66-B982-EEF7-68589F18FA27}"/>
              </a:ext>
            </a:extLst>
          </p:cNvPr>
          <p:cNvSpPr/>
          <p:nvPr/>
        </p:nvSpPr>
        <p:spPr>
          <a:xfrm>
            <a:off x="6096000" y="1047932"/>
            <a:ext cx="5535168" cy="365761"/>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lang="en-US" sz="1400" b="1" dirty="0">
                <a:solidFill>
                  <a:srgbClr val="FFFFFF"/>
                </a:solidFill>
                <a:latin typeface="Segoe UI"/>
              </a:rPr>
              <a:t>Features</a:t>
            </a:r>
            <a:endParaRPr sz="1400" b="1" dirty="0">
              <a:solidFill>
                <a:srgbClr val="FFFFFF"/>
              </a:solidFill>
              <a:latin typeface="Segoe UI"/>
            </a:endParaRPr>
          </a:p>
        </p:txBody>
      </p:sp>
    </p:spTree>
    <p:extLst>
      <p:ext uri="{BB962C8B-B14F-4D97-AF65-F5344CB8AC3E}">
        <p14:creationId xmlns:p14="http://schemas.microsoft.com/office/powerpoint/2010/main" val="1386761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4B23B1-2C49-F44B-584F-BC4927EE16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F071B5-83AD-B3EC-3D1A-905A78EAD5AA}"/>
              </a:ext>
            </a:extLst>
          </p:cNvPr>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41A46BC-7F64-7478-565E-97B3C92B4A51}"/>
              </a:ext>
            </a:extLst>
          </p:cNvPr>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Dungeon Explorer</a:t>
            </a:r>
          </a:p>
        </p:txBody>
      </p:sp>
      <p:sp>
        <p:nvSpPr>
          <p:cNvPr id="5" name="TextBox 4">
            <a:extLst>
              <a:ext uri="{FF2B5EF4-FFF2-40B4-BE49-F238E27FC236}">
                <a16:creationId xmlns:a16="http://schemas.microsoft.com/office/drawing/2014/main" id="{3653EE3B-B230-E7CA-764B-4CBEBF759FA2}"/>
              </a:ext>
            </a:extLst>
          </p:cNvPr>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4 / 21</a:t>
            </a:r>
          </a:p>
        </p:txBody>
      </p:sp>
      <p:sp>
        <p:nvSpPr>
          <p:cNvPr id="25" name="Rounded Rectangle 6">
            <a:extLst>
              <a:ext uri="{FF2B5EF4-FFF2-40B4-BE49-F238E27FC236}">
                <a16:creationId xmlns:a16="http://schemas.microsoft.com/office/drawing/2014/main" id="{7D63459B-241F-884D-E1A2-C156797D5388}"/>
              </a:ext>
            </a:extLst>
          </p:cNvPr>
          <p:cNvSpPr/>
          <p:nvPr/>
        </p:nvSpPr>
        <p:spPr>
          <a:xfrm>
            <a:off x="749808" y="1030709"/>
            <a:ext cx="10116460" cy="402336"/>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lang="en-US" sz="1300" b="1" dirty="0">
                <a:solidFill>
                  <a:srgbClr val="FFFFFF"/>
                </a:solidFill>
                <a:latin typeface="Segoe UI"/>
              </a:rPr>
              <a:t>Features</a:t>
            </a:r>
            <a:endParaRPr sz="1300" b="1" dirty="0">
              <a:solidFill>
                <a:srgbClr val="FFFFFF"/>
              </a:solidFill>
              <a:latin typeface="Segoe UI"/>
            </a:endParaRPr>
          </a:p>
        </p:txBody>
      </p:sp>
      <p:sp>
        <p:nvSpPr>
          <p:cNvPr id="39" name="Rounded Rectangle 13">
            <a:extLst>
              <a:ext uri="{FF2B5EF4-FFF2-40B4-BE49-F238E27FC236}">
                <a16:creationId xmlns:a16="http://schemas.microsoft.com/office/drawing/2014/main" id="{F05FC498-D639-8501-695A-B14FA89CE496}"/>
              </a:ext>
            </a:extLst>
          </p:cNvPr>
          <p:cNvSpPr/>
          <p:nvPr/>
        </p:nvSpPr>
        <p:spPr>
          <a:xfrm>
            <a:off x="5934712" y="4251032"/>
            <a:ext cx="4071905" cy="1641564"/>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spcAft>
                <a:spcPts val="1000"/>
              </a:spcAft>
            </a:pPr>
            <a:r>
              <a:rPr lang="en-US" sz="1600" b="1" dirty="0">
                <a:solidFill>
                  <a:srgbClr val="141828"/>
                </a:solidFill>
                <a:latin typeface="Segoe UI"/>
              </a:rPr>
              <a:t>Pixel art and Design</a:t>
            </a:r>
          </a:p>
          <a:p>
            <a:pPr marL="742950" lvl="1" indent="-285750">
              <a:buFont typeface="Arial" panose="020B0604020202020204" pitchFamily="34" charset="0"/>
              <a:buChar char="•"/>
            </a:pPr>
            <a:r>
              <a:rPr lang="en-US" sz="1600" dirty="0">
                <a:solidFill>
                  <a:srgbClr val="141828"/>
                </a:solidFill>
                <a:latin typeface="Segoe UI"/>
              </a:rPr>
              <a:t>All the tiles used are hand drawn (32x32)</a:t>
            </a:r>
            <a:endParaRPr lang="en-US" sz="1600" b="1" dirty="0">
              <a:solidFill>
                <a:srgbClr val="141828"/>
              </a:solidFill>
              <a:latin typeface="Segoe UI"/>
            </a:endParaRPr>
          </a:p>
          <a:p>
            <a:pPr marL="742950" lvl="1" indent="-285750">
              <a:buFont typeface="Arial" panose="020B0604020202020204" pitchFamily="34" charset="0"/>
              <a:buChar char="•"/>
            </a:pPr>
            <a:r>
              <a:rPr lang="en-US" sz="1600" dirty="0">
                <a:solidFill>
                  <a:srgbClr val="141828"/>
                </a:solidFill>
                <a:latin typeface="Segoe UI"/>
              </a:rPr>
              <a:t>tile based game design</a:t>
            </a:r>
          </a:p>
        </p:txBody>
      </p:sp>
      <p:sp>
        <p:nvSpPr>
          <p:cNvPr id="7" name="Rounded Rectangle 7">
            <a:extLst>
              <a:ext uri="{FF2B5EF4-FFF2-40B4-BE49-F238E27FC236}">
                <a16:creationId xmlns:a16="http://schemas.microsoft.com/office/drawing/2014/main" id="{924AB1EB-29BF-5B4B-5FA2-5549E3C91839}"/>
              </a:ext>
            </a:extLst>
          </p:cNvPr>
          <p:cNvSpPr/>
          <p:nvPr/>
        </p:nvSpPr>
        <p:spPr>
          <a:xfrm>
            <a:off x="1413001" y="1885506"/>
            <a:ext cx="4071905" cy="1900862"/>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Aft>
                <a:spcPts val="1000"/>
              </a:spcAft>
            </a:pPr>
            <a:r>
              <a:rPr lang="en-US" sz="1600" b="1" dirty="0">
                <a:solidFill>
                  <a:srgbClr val="141828"/>
                </a:solidFill>
                <a:latin typeface="Segoe UI"/>
              </a:rPr>
              <a:t>map-generation systems</a:t>
            </a:r>
          </a:p>
          <a:p>
            <a:pPr marL="742950" lvl="1" indent="-285750">
              <a:buFont typeface="Arial" panose="020B0604020202020204" pitchFamily="34" charset="0"/>
              <a:buChar char="•"/>
            </a:pPr>
            <a:r>
              <a:rPr lang="en-US" sz="1600" dirty="0">
                <a:solidFill>
                  <a:srgbClr val="141828"/>
                </a:solidFill>
                <a:latin typeface="Segoe UI"/>
              </a:rPr>
              <a:t>genetic algorithm</a:t>
            </a:r>
          </a:p>
          <a:p>
            <a:pPr marL="742950" lvl="1" indent="-285750">
              <a:buFont typeface="Arial" panose="020B0604020202020204" pitchFamily="34" charset="0"/>
              <a:buChar char="•"/>
            </a:pPr>
            <a:r>
              <a:rPr lang="en-US" sz="1600" dirty="0">
                <a:solidFill>
                  <a:srgbClr val="141828"/>
                </a:solidFill>
                <a:latin typeface="Segoe UI"/>
              </a:rPr>
              <a:t>cellular automata</a:t>
            </a:r>
          </a:p>
          <a:p>
            <a:pPr marL="742950" lvl="1" indent="-285750">
              <a:buFont typeface="Arial" panose="020B0604020202020204" pitchFamily="34" charset="0"/>
              <a:buChar char="•"/>
            </a:pPr>
            <a:r>
              <a:rPr lang="en-US" sz="1600" dirty="0">
                <a:solidFill>
                  <a:srgbClr val="141828"/>
                </a:solidFill>
                <a:latin typeface="Segoe UI"/>
              </a:rPr>
              <a:t>BFS connectivity checks</a:t>
            </a:r>
          </a:p>
          <a:p>
            <a:pPr marL="742950" lvl="1" indent="-285750">
              <a:buFont typeface="Arial" panose="020B0604020202020204" pitchFamily="34" charset="0"/>
              <a:buChar char="•"/>
            </a:pPr>
            <a:r>
              <a:rPr lang="en-US" sz="1600" dirty="0">
                <a:solidFill>
                  <a:srgbClr val="141828"/>
                </a:solidFill>
                <a:latin typeface="Segoe UI"/>
              </a:rPr>
              <a:t>A* pathfinding</a:t>
            </a:r>
          </a:p>
          <a:p>
            <a:pPr marL="742950" lvl="1" indent="-285750">
              <a:buFont typeface="Arial" panose="020B0604020202020204" pitchFamily="34" charset="0"/>
              <a:buChar char="•"/>
            </a:pPr>
            <a:r>
              <a:rPr lang="en-US" sz="1600" dirty="0">
                <a:solidFill>
                  <a:srgbClr val="141828"/>
                </a:solidFill>
                <a:latin typeface="Segoe UI"/>
              </a:rPr>
              <a:t>decision-tree</a:t>
            </a:r>
          </a:p>
        </p:txBody>
      </p:sp>
      <p:sp>
        <p:nvSpPr>
          <p:cNvPr id="18" name="Rounded Rectangle 7">
            <a:extLst>
              <a:ext uri="{FF2B5EF4-FFF2-40B4-BE49-F238E27FC236}">
                <a16:creationId xmlns:a16="http://schemas.microsoft.com/office/drawing/2014/main" id="{14BEB348-99E6-4108-1481-55BE06DDA974}"/>
              </a:ext>
            </a:extLst>
          </p:cNvPr>
          <p:cNvSpPr/>
          <p:nvPr/>
        </p:nvSpPr>
        <p:spPr>
          <a:xfrm>
            <a:off x="1413002" y="4251031"/>
            <a:ext cx="4071904" cy="1641564"/>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spcAft>
                <a:spcPts val="1000"/>
              </a:spcAft>
            </a:pPr>
            <a:r>
              <a:rPr lang="en-US" sz="1600" b="1" dirty="0">
                <a:solidFill>
                  <a:srgbClr val="141828"/>
                </a:solidFill>
                <a:latin typeface="Segoe UI"/>
              </a:rPr>
              <a:t>Inventory and item effects</a:t>
            </a:r>
          </a:p>
          <a:p>
            <a:pPr marL="742950" lvl="1" indent="-285750">
              <a:buFont typeface="Arial" panose="020B0604020202020204" pitchFamily="34" charset="0"/>
              <a:buChar char="•"/>
            </a:pPr>
            <a:r>
              <a:rPr lang="en-US" sz="1600" dirty="0">
                <a:solidFill>
                  <a:srgbClr val="141828"/>
                </a:solidFill>
                <a:latin typeface="Segoe UI"/>
              </a:rPr>
              <a:t>Item pickup and use system</a:t>
            </a:r>
          </a:p>
          <a:p>
            <a:pPr marL="742950" lvl="1" indent="-285750">
              <a:buFont typeface="Arial" panose="020B0604020202020204" pitchFamily="34" charset="0"/>
              <a:buChar char="•"/>
            </a:pPr>
            <a:r>
              <a:rPr lang="en-US" sz="1600" dirty="0">
                <a:solidFill>
                  <a:srgbClr val="141828"/>
                </a:solidFill>
                <a:latin typeface="Segoe UI"/>
              </a:rPr>
              <a:t>Consumables and stat-affecting equipment or active effects</a:t>
            </a:r>
          </a:p>
          <a:p>
            <a:pPr marL="742950" lvl="1" indent="-285750">
              <a:buFont typeface="Arial" panose="020B0604020202020204" pitchFamily="34" charset="0"/>
              <a:buChar char="•"/>
            </a:pPr>
            <a:endParaRPr lang="en-US" sz="1600" dirty="0">
              <a:solidFill>
                <a:srgbClr val="141828"/>
              </a:solidFill>
              <a:latin typeface="Segoe UI"/>
            </a:endParaRPr>
          </a:p>
        </p:txBody>
      </p:sp>
      <p:sp>
        <p:nvSpPr>
          <p:cNvPr id="28" name="Rounded Rectangle 7">
            <a:extLst>
              <a:ext uri="{FF2B5EF4-FFF2-40B4-BE49-F238E27FC236}">
                <a16:creationId xmlns:a16="http://schemas.microsoft.com/office/drawing/2014/main" id="{D3FC0D05-1978-47DC-85FF-77749359340B}"/>
              </a:ext>
            </a:extLst>
          </p:cNvPr>
          <p:cNvSpPr/>
          <p:nvPr/>
        </p:nvSpPr>
        <p:spPr>
          <a:xfrm>
            <a:off x="5934712" y="1885506"/>
            <a:ext cx="4071905" cy="1900862"/>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Aft>
                <a:spcPts val="1000"/>
              </a:spcAft>
            </a:pPr>
            <a:r>
              <a:rPr lang="en-US" sz="1600" b="1" dirty="0">
                <a:solidFill>
                  <a:srgbClr val="141828"/>
                </a:solidFill>
                <a:latin typeface="Segoe UI"/>
              </a:rPr>
              <a:t>Combat and controls</a:t>
            </a:r>
          </a:p>
          <a:p>
            <a:pPr marL="742950" lvl="1" indent="-285750">
              <a:spcAft>
                <a:spcPts val="1000"/>
              </a:spcAft>
              <a:buFont typeface="Arial" panose="020B0604020202020204" pitchFamily="34" charset="0"/>
              <a:buChar char="•"/>
            </a:pPr>
            <a:r>
              <a:rPr lang="en-US" sz="1600" dirty="0">
                <a:solidFill>
                  <a:srgbClr val="141828"/>
                </a:solidFill>
                <a:latin typeface="Segoe UI"/>
              </a:rPr>
              <a:t>WASD / arrow-key movement</a:t>
            </a:r>
          </a:p>
          <a:p>
            <a:pPr marL="742950" lvl="1" indent="-285750">
              <a:spcAft>
                <a:spcPts val="1000"/>
              </a:spcAft>
              <a:buFont typeface="Arial" panose="020B0604020202020204" pitchFamily="34" charset="0"/>
              <a:buChar char="•"/>
            </a:pPr>
            <a:r>
              <a:rPr lang="en-US" sz="1600" dirty="0">
                <a:solidFill>
                  <a:srgbClr val="141828"/>
                </a:solidFill>
                <a:latin typeface="Segoe UI"/>
              </a:rPr>
              <a:t>Sprinting with Shift</a:t>
            </a:r>
          </a:p>
          <a:p>
            <a:pPr marL="742950" lvl="1" indent="-285750">
              <a:spcAft>
                <a:spcPts val="1000"/>
              </a:spcAft>
              <a:buFont typeface="Arial" panose="020B0604020202020204" pitchFamily="34" charset="0"/>
              <a:buChar char="•"/>
            </a:pPr>
            <a:r>
              <a:rPr lang="en-US" sz="1600" dirty="0">
                <a:solidFill>
                  <a:srgbClr val="141828"/>
                </a:solidFill>
                <a:latin typeface="Segoe UI"/>
              </a:rPr>
              <a:t>Mouse aiming with projectile attacks</a:t>
            </a:r>
          </a:p>
        </p:txBody>
      </p:sp>
    </p:spTree>
    <p:extLst>
      <p:ext uri="{BB962C8B-B14F-4D97-AF65-F5344CB8AC3E}">
        <p14:creationId xmlns:p14="http://schemas.microsoft.com/office/powerpoint/2010/main" val="211391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9FC173-10C0-A26B-38BD-21E3DCF5850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97F5BB-641A-DE2F-B19C-51594BF5869A}"/>
              </a:ext>
            </a:extLst>
          </p:cNvPr>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6555ADE-97D6-F8A3-50DC-A8FCF647A1CA}"/>
              </a:ext>
            </a:extLst>
          </p:cNvPr>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Dungeon Explorer</a:t>
            </a:r>
          </a:p>
        </p:txBody>
      </p:sp>
      <p:sp>
        <p:nvSpPr>
          <p:cNvPr id="5" name="TextBox 4">
            <a:extLst>
              <a:ext uri="{FF2B5EF4-FFF2-40B4-BE49-F238E27FC236}">
                <a16:creationId xmlns:a16="http://schemas.microsoft.com/office/drawing/2014/main" id="{CAA56881-147C-AF34-A708-8BAD32A4DD20}"/>
              </a:ext>
            </a:extLst>
          </p:cNvPr>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4 / 21</a:t>
            </a:r>
          </a:p>
        </p:txBody>
      </p:sp>
      <p:sp>
        <p:nvSpPr>
          <p:cNvPr id="25" name="Rounded Rectangle 6">
            <a:extLst>
              <a:ext uri="{FF2B5EF4-FFF2-40B4-BE49-F238E27FC236}">
                <a16:creationId xmlns:a16="http://schemas.microsoft.com/office/drawing/2014/main" id="{E9719BE5-5C9A-015E-3C2B-AD41ABE0F546}"/>
              </a:ext>
            </a:extLst>
          </p:cNvPr>
          <p:cNvSpPr/>
          <p:nvPr/>
        </p:nvSpPr>
        <p:spPr>
          <a:xfrm>
            <a:off x="749808" y="1030709"/>
            <a:ext cx="10116460" cy="402336"/>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lang="en-US" sz="1300" b="1" dirty="0">
                <a:solidFill>
                  <a:srgbClr val="FFFFFF"/>
                </a:solidFill>
                <a:latin typeface="Segoe UI"/>
              </a:rPr>
              <a:t>Features</a:t>
            </a:r>
            <a:endParaRPr sz="1300" b="1" dirty="0">
              <a:solidFill>
                <a:srgbClr val="FFFFFF"/>
              </a:solidFill>
              <a:latin typeface="Segoe UI"/>
            </a:endParaRPr>
          </a:p>
        </p:txBody>
      </p:sp>
      <p:sp>
        <p:nvSpPr>
          <p:cNvPr id="39" name="Rounded Rectangle 13">
            <a:extLst>
              <a:ext uri="{FF2B5EF4-FFF2-40B4-BE49-F238E27FC236}">
                <a16:creationId xmlns:a16="http://schemas.microsoft.com/office/drawing/2014/main" id="{74B4CBFA-45E3-5B50-6CFD-C3C2BB080029}"/>
              </a:ext>
            </a:extLst>
          </p:cNvPr>
          <p:cNvSpPr/>
          <p:nvPr/>
        </p:nvSpPr>
        <p:spPr>
          <a:xfrm>
            <a:off x="749807" y="3785745"/>
            <a:ext cx="3182999" cy="1180271"/>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spcAft>
                <a:spcPts val="1000"/>
              </a:spcAft>
            </a:pPr>
            <a:r>
              <a:rPr sz="1600" b="1" dirty="0">
                <a:solidFill>
                  <a:srgbClr val="141828"/>
                </a:solidFill>
                <a:latin typeface="Segoe UI"/>
              </a:rPr>
              <a:t>Environmental hazards</a:t>
            </a:r>
            <a:endParaRPr lang="en-US" sz="1600" b="1" dirty="0">
              <a:solidFill>
                <a:srgbClr val="141828"/>
              </a:solidFill>
              <a:latin typeface="Segoe UI"/>
            </a:endParaRPr>
          </a:p>
          <a:p>
            <a:pPr marL="742950" lvl="1" indent="-285750">
              <a:buFont typeface="Arial" panose="020B0604020202020204" pitchFamily="34" charset="0"/>
              <a:buChar char="•"/>
            </a:pPr>
            <a:r>
              <a:rPr lang="en-US" sz="1600" dirty="0">
                <a:solidFill>
                  <a:srgbClr val="141828"/>
                </a:solidFill>
                <a:latin typeface="Segoe UI"/>
              </a:rPr>
              <a:t>Lava, traps and water hurt monsters too</a:t>
            </a:r>
          </a:p>
          <a:p>
            <a:pPr algn="l"/>
            <a:endParaRPr lang="en-US" sz="1600" b="1" dirty="0">
              <a:solidFill>
                <a:srgbClr val="141828"/>
              </a:solidFill>
              <a:latin typeface="Segoe UI"/>
            </a:endParaRPr>
          </a:p>
        </p:txBody>
      </p:sp>
      <p:sp>
        <p:nvSpPr>
          <p:cNvPr id="18" name="Rounded Rectangle 7">
            <a:extLst>
              <a:ext uri="{FF2B5EF4-FFF2-40B4-BE49-F238E27FC236}">
                <a16:creationId xmlns:a16="http://schemas.microsoft.com/office/drawing/2014/main" id="{C6E72696-791B-2124-D137-6801F3A7EE61}"/>
              </a:ext>
            </a:extLst>
          </p:cNvPr>
          <p:cNvSpPr/>
          <p:nvPr/>
        </p:nvSpPr>
        <p:spPr>
          <a:xfrm>
            <a:off x="4421081" y="2021698"/>
            <a:ext cx="3107078" cy="118027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spcAft>
                <a:spcPts val="1000"/>
              </a:spcAft>
            </a:pPr>
            <a:r>
              <a:rPr lang="en-US" sz="1600" b="1" dirty="0">
                <a:solidFill>
                  <a:srgbClr val="141828"/>
                </a:solidFill>
                <a:latin typeface="Segoe UI"/>
              </a:rPr>
              <a:t>Local JSON profile</a:t>
            </a:r>
          </a:p>
          <a:p>
            <a:pPr marL="742950" lvl="1" indent="-285750">
              <a:buFont typeface="Arial" panose="020B0604020202020204" pitchFamily="34" charset="0"/>
              <a:buChar char="•"/>
            </a:pPr>
            <a:r>
              <a:rPr lang="en-US" sz="1600" dirty="0">
                <a:solidFill>
                  <a:srgbClr val="141828"/>
                </a:solidFill>
                <a:latin typeface="Segoe UI"/>
              </a:rPr>
              <a:t>Level, kills, item usage, last five runs</a:t>
            </a:r>
          </a:p>
        </p:txBody>
      </p:sp>
      <p:sp>
        <p:nvSpPr>
          <p:cNvPr id="20" name="Rounded Rectangle 13">
            <a:extLst>
              <a:ext uri="{FF2B5EF4-FFF2-40B4-BE49-F238E27FC236}">
                <a16:creationId xmlns:a16="http://schemas.microsoft.com/office/drawing/2014/main" id="{736A23B6-AE00-D317-468C-FDDEB27F1737}"/>
              </a:ext>
            </a:extLst>
          </p:cNvPr>
          <p:cNvSpPr/>
          <p:nvPr/>
        </p:nvSpPr>
        <p:spPr>
          <a:xfrm>
            <a:off x="8009824" y="2018794"/>
            <a:ext cx="2717585" cy="1186077"/>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spcAft>
                <a:spcPts val="1000"/>
              </a:spcAft>
            </a:pPr>
            <a:r>
              <a:rPr lang="en-US" sz="1600" b="1" dirty="0">
                <a:solidFill>
                  <a:srgbClr val="141828"/>
                </a:solidFill>
                <a:latin typeface="Segoe UI"/>
              </a:rPr>
              <a:t>Run rollback</a:t>
            </a:r>
          </a:p>
          <a:p>
            <a:pPr marL="742950" lvl="1" indent="-285750">
              <a:buFont typeface="Arial" panose="020B0604020202020204" pitchFamily="34" charset="0"/>
              <a:buChar char="•"/>
            </a:pPr>
            <a:r>
              <a:rPr lang="en-US" sz="1600" dirty="0">
                <a:solidFill>
                  <a:srgbClr val="141828"/>
                </a:solidFill>
                <a:latin typeface="Segoe UI"/>
              </a:rPr>
              <a:t>Dying costs the earned experience</a:t>
            </a:r>
          </a:p>
          <a:p>
            <a:pPr algn="l"/>
            <a:endParaRPr lang="en-US" sz="1600" b="1" dirty="0">
              <a:solidFill>
                <a:srgbClr val="141828"/>
              </a:solidFill>
              <a:latin typeface="Segoe UI"/>
            </a:endParaRPr>
          </a:p>
        </p:txBody>
      </p:sp>
      <p:sp>
        <p:nvSpPr>
          <p:cNvPr id="22" name="Rounded Rectangle 7">
            <a:extLst>
              <a:ext uri="{FF2B5EF4-FFF2-40B4-BE49-F238E27FC236}">
                <a16:creationId xmlns:a16="http://schemas.microsoft.com/office/drawing/2014/main" id="{388FA6FB-2A3C-6CE2-E48F-596F7F76174D}"/>
              </a:ext>
            </a:extLst>
          </p:cNvPr>
          <p:cNvSpPr/>
          <p:nvPr/>
        </p:nvSpPr>
        <p:spPr>
          <a:xfrm>
            <a:off x="749809" y="2021698"/>
            <a:ext cx="3183000" cy="118027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Aft>
                <a:spcPts val="1000"/>
              </a:spcAft>
            </a:pPr>
            <a:r>
              <a:rPr lang="en-US" sz="1600" b="1" dirty="0">
                <a:solidFill>
                  <a:srgbClr val="141828"/>
                </a:solidFill>
                <a:latin typeface="Segoe UI"/>
              </a:rPr>
              <a:t>Fog of war</a:t>
            </a:r>
          </a:p>
          <a:p>
            <a:pPr marL="742950" lvl="1" indent="-285750">
              <a:buFont typeface="Arial" panose="020B0604020202020204" pitchFamily="34" charset="0"/>
              <a:buChar char="•"/>
            </a:pPr>
            <a:r>
              <a:rPr lang="en-US" sz="1600" dirty="0">
                <a:solidFill>
                  <a:srgbClr val="141828"/>
                </a:solidFill>
                <a:latin typeface="Segoe UI"/>
              </a:rPr>
              <a:t>5-tile radius, removable with a Light item</a:t>
            </a:r>
          </a:p>
        </p:txBody>
      </p:sp>
    </p:spTree>
    <p:extLst>
      <p:ext uri="{BB962C8B-B14F-4D97-AF65-F5344CB8AC3E}">
        <p14:creationId xmlns:p14="http://schemas.microsoft.com/office/powerpoint/2010/main" val="3850674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System Architecture</a:t>
            </a:r>
          </a:p>
        </p:txBody>
      </p:sp>
      <p:sp>
        <p:nvSpPr>
          <p:cNvPr id="4" name="TextBox 3"/>
          <p:cNvSpPr txBox="1"/>
          <p:nvPr/>
        </p:nvSpPr>
        <p:spPr>
          <a:xfrm>
            <a:off x="768096" y="969264"/>
            <a:ext cx="10881360" cy="207749"/>
          </a:xfrm>
          <a:prstGeom prst="rect">
            <a:avLst/>
          </a:prstGeom>
          <a:noFill/>
        </p:spPr>
        <p:txBody>
          <a:bodyPr wrap="square" lIns="0" tIns="0" rIns="0" bIns="0">
            <a:spAutoFit/>
          </a:bodyPr>
          <a:lstStyle/>
          <a:p>
            <a:r>
              <a:rPr lang="en-US" sz="1350" i="1" dirty="0">
                <a:solidFill>
                  <a:srgbClr val="5A6076"/>
                </a:solidFill>
                <a:latin typeface="Segoe UI"/>
              </a:rPr>
              <a:t>Five</a:t>
            </a:r>
            <a:r>
              <a:rPr sz="1350" i="1" dirty="0">
                <a:solidFill>
                  <a:srgbClr val="5A6076"/>
                </a:solidFill>
                <a:latin typeface="Segoe UI"/>
              </a:rPr>
              <a:t> layers, one direction of dependency</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5 / 21</a:t>
            </a:r>
          </a:p>
        </p:txBody>
      </p:sp>
      <p:pic>
        <p:nvPicPr>
          <p:cNvPr id="6" name="Picture 5" descr="fig_5_1_system_architecture.png"/>
          <p:cNvPicPr>
            <a:picLocks noChangeAspect="1"/>
          </p:cNvPicPr>
          <p:nvPr/>
        </p:nvPicPr>
        <p:blipFill>
          <a:blip r:embed="rId3"/>
          <a:stretch>
            <a:fillRect/>
          </a:stretch>
        </p:blipFill>
        <p:spPr>
          <a:xfrm>
            <a:off x="640080" y="1691640"/>
            <a:ext cx="7422936" cy="4160520"/>
          </a:xfrm>
          <a:prstGeom prst="rect">
            <a:avLst/>
          </a:prstGeom>
        </p:spPr>
      </p:pic>
      <p:sp>
        <p:nvSpPr>
          <p:cNvPr id="7" name="TextBox 6"/>
          <p:cNvSpPr txBox="1"/>
          <p:nvPr/>
        </p:nvSpPr>
        <p:spPr>
          <a:xfrm>
            <a:off x="8549640" y="1828800"/>
            <a:ext cx="3063240" cy="3840480"/>
          </a:xfrm>
          <a:prstGeom prst="rect">
            <a:avLst/>
          </a:prstGeom>
          <a:noFill/>
        </p:spPr>
        <p:txBody>
          <a:bodyPr wrap="square" lIns="18288" tIns="0" rIns="18288" bIns="0">
            <a:spAutoFit/>
          </a:bodyPr>
          <a:lstStyle/>
          <a:p>
            <a:pPr marL="219456" indent="-219456" algn="l"/>
            <a:r>
              <a:rPr sz="1300" b="1">
                <a:solidFill>
                  <a:srgbClr val="1F4E9C"/>
                </a:solidFill>
              </a:rPr>
              <a:t>▪   </a:t>
            </a:r>
            <a:r>
              <a:rPr sz="1400" b="1">
                <a:solidFill>
                  <a:srgbClr val="141828"/>
                </a:solidFill>
                <a:latin typeface="Segoe UI"/>
              </a:rPr>
              <a:t>The AI layer has no upward dependency.</a:t>
            </a:r>
            <a:r>
              <a:rPr sz="1400" b="0">
                <a:solidFill>
                  <a:srgbClr val="141828"/>
                </a:solidFill>
                <a:latin typeface="Segoe UI"/>
              </a:rPr>
              <a:t>  Nothing in shared/mapgen imports from src/client. The client imports from mapgen, never the reverse.</a:t>
            </a:r>
          </a:p>
          <a:p>
            <a:pPr marL="219456" indent="-219456" algn="l"/>
            <a:r>
              <a:rPr sz="1300" b="1">
                <a:solidFill>
                  <a:srgbClr val="1F4E9C"/>
                </a:solidFill>
              </a:rPr>
              <a:t>▪   </a:t>
            </a:r>
            <a:r>
              <a:rPr sz="1400" b="1">
                <a:solidFill>
                  <a:srgbClr val="141828"/>
                </a:solidFill>
                <a:latin typeface="Segoe UI"/>
              </a:rPr>
              <a:t>That is why we could test the generator headlessly.</a:t>
            </a:r>
            <a:r>
              <a:rPr sz="1400" b="0">
                <a:solidFill>
                  <a:srgbClr val="141828"/>
                </a:solidFill>
                <a:latin typeface="Segoe UI"/>
              </a:rPr>
              <a:t>  It returns plain data and draws nothing, so the whole pipeline runs in a terminal with no display attached — which is what made the 30-level validation possible.</a:t>
            </a:r>
          </a:p>
        </p:txBody>
      </p:sp>
      <p:sp>
        <p:nvSpPr>
          <p:cNvPr id="8" name="TextBox 7"/>
          <p:cNvSpPr txBox="1"/>
          <p:nvPr/>
        </p:nvSpPr>
        <p:spPr>
          <a:xfrm>
            <a:off x="502920" y="6309360"/>
            <a:ext cx="9601200" cy="292608"/>
          </a:xfrm>
          <a:prstGeom prst="rect">
            <a:avLst/>
          </a:prstGeom>
          <a:noFill/>
        </p:spPr>
        <p:txBody>
          <a:bodyPr wrap="none" lIns="0" tIns="0" rIns="0" bIns="0">
            <a:spAutoFit/>
          </a:bodyPr>
          <a:lstStyle/>
          <a:p>
            <a:r>
              <a:rPr sz="1050" i="1">
                <a:solidFill>
                  <a:srgbClr val="5A6076"/>
                </a:solidFill>
                <a:latin typeface="Segoe UI"/>
              </a:rPr>
              <a:t>A single shared game_state dictionary is the only channel between screens — no screen holds a reference to another.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828"/>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B85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FFFFFF"/>
                </a:solidFill>
                <a:latin typeface="Segoe UI"/>
              </a:rPr>
              <a:t>The AI Pipeline</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8A90A4"/>
                </a:solidFill>
                <a:latin typeface="Segoe UI"/>
              </a:rPr>
              <a:t>This is the core of the project</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7 / 21</a:t>
            </a:r>
          </a:p>
        </p:txBody>
      </p:sp>
      <p:sp>
        <p:nvSpPr>
          <p:cNvPr id="6" name="TextBox 5"/>
          <p:cNvSpPr txBox="1"/>
          <p:nvPr/>
        </p:nvSpPr>
        <p:spPr>
          <a:xfrm>
            <a:off x="777240" y="1600200"/>
            <a:ext cx="10698480" cy="640080"/>
          </a:xfrm>
          <a:prstGeom prst="rect">
            <a:avLst/>
          </a:prstGeom>
          <a:noFill/>
        </p:spPr>
        <p:txBody>
          <a:bodyPr wrap="square">
            <a:spAutoFit/>
          </a:bodyPr>
          <a:lstStyle/>
          <a:p>
            <a:r>
              <a:rPr sz="1800" dirty="0">
                <a:solidFill>
                  <a:srgbClr val="B8C4DE"/>
                </a:solidFill>
                <a:latin typeface="Segoe UI"/>
              </a:rPr>
              <a:t>Eight stages. Each one reduces the problem rather than trying to solve it outright.</a:t>
            </a:r>
          </a:p>
        </p:txBody>
      </p:sp>
      <p:sp>
        <p:nvSpPr>
          <p:cNvPr id="7" name="Rounded Rectangle 6"/>
          <p:cNvSpPr/>
          <p:nvPr/>
        </p:nvSpPr>
        <p:spPr>
          <a:xfrm>
            <a:off x="566928" y="2514600"/>
            <a:ext cx="1371600" cy="1874519"/>
          </a:xfrm>
          <a:prstGeom prst="roundRect">
            <a:avLst>
              <a:gd name="adj" fmla="val 10000"/>
            </a:avLst>
          </a:prstGeom>
          <a:solidFill>
            <a:srgbClr val="1E243A"/>
          </a:solidFill>
          <a:ln w="19050">
            <a:solidFill>
              <a:srgbClr val="B8531F"/>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a:solidFill>
                  <a:srgbClr val="B8531F"/>
                </a:solidFill>
                <a:latin typeface="Segoe UI"/>
              </a:rPr>
              <a:t>1</a:t>
            </a:r>
          </a:p>
          <a:p>
            <a:pPr algn="ctr"/>
            <a:r>
              <a:rPr sz="1400" b="1">
                <a:solidFill>
                  <a:srgbClr val="FFFFFF"/>
                </a:solidFill>
                <a:latin typeface="Segoe UI"/>
              </a:rPr>
              <a:t>Genetic</a:t>
            </a:r>
          </a:p>
          <a:p>
            <a:pPr algn="ctr"/>
            <a:r>
              <a:rPr sz="1400" b="1">
                <a:solidFill>
                  <a:srgbClr val="FFFFFF"/>
                </a:solidFill>
                <a:latin typeface="Segoe UI"/>
              </a:rPr>
              <a:t>Algorithm</a:t>
            </a:r>
          </a:p>
          <a:p>
            <a:pPr algn="ctr">
              <a:spcBef>
                <a:spcPts val="500"/>
              </a:spcBef>
            </a:pPr>
            <a:r>
              <a:rPr sz="950">
                <a:solidFill>
                  <a:srgbClr val="8A90A4"/>
                </a:solidFill>
                <a:latin typeface="Segoe UI"/>
              </a:rPr>
              <a:t>8 random grids, then evolve over 4 generations</a:t>
            </a:r>
          </a:p>
        </p:txBody>
      </p:sp>
      <p:sp>
        <p:nvSpPr>
          <p:cNvPr id="8" name="Rounded Rectangle 7"/>
          <p:cNvSpPr/>
          <p:nvPr/>
        </p:nvSpPr>
        <p:spPr>
          <a:xfrm>
            <a:off x="2016252" y="2514600"/>
            <a:ext cx="1371600" cy="1874519"/>
          </a:xfrm>
          <a:prstGeom prst="roundRect">
            <a:avLst>
              <a:gd name="adj" fmla="val 10000"/>
            </a:avLst>
          </a:prstGeom>
          <a:solidFill>
            <a:srgbClr val="1E243A"/>
          </a:solidFill>
          <a:ln w="19050">
            <a:solidFill>
              <a:srgbClr val="3A4466"/>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8A90A4"/>
                </a:solidFill>
                <a:latin typeface="Segoe UI"/>
              </a:rPr>
              <a:t>2</a:t>
            </a:r>
          </a:p>
          <a:p>
            <a:pPr algn="ctr"/>
            <a:r>
              <a:rPr sz="1400" b="1" dirty="0">
                <a:solidFill>
                  <a:srgbClr val="FFFFFF"/>
                </a:solidFill>
                <a:latin typeface="Segoe UI"/>
              </a:rPr>
              <a:t>Layout</a:t>
            </a:r>
          </a:p>
          <a:p>
            <a:pPr algn="ctr"/>
            <a:r>
              <a:rPr sz="1400" b="1" dirty="0">
                <a:solidFill>
                  <a:srgbClr val="FFFFFF"/>
                </a:solidFill>
                <a:latin typeface="Segoe UI"/>
              </a:rPr>
              <a:t>Carving</a:t>
            </a:r>
          </a:p>
          <a:p>
            <a:pPr algn="ctr">
              <a:spcBef>
                <a:spcPts val="500"/>
              </a:spcBef>
            </a:pPr>
            <a:r>
              <a:rPr sz="950" dirty="0">
                <a:solidFill>
                  <a:srgbClr val="8A90A4"/>
                </a:solidFill>
                <a:latin typeface="Segoe UI"/>
              </a:rPr>
              <a:t>3×3 sectors, random walk, corridors, traps</a:t>
            </a:r>
          </a:p>
        </p:txBody>
      </p:sp>
      <p:sp>
        <p:nvSpPr>
          <p:cNvPr id="9" name="Rounded Rectangle 8"/>
          <p:cNvSpPr/>
          <p:nvPr/>
        </p:nvSpPr>
        <p:spPr>
          <a:xfrm>
            <a:off x="3465576" y="2514600"/>
            <a:ext cx="1371600" cy="1874519"/>
          </a:xfrm>
          <a:prstGeom prst="roundRect">
            <a:avLst>
              <a:gd name="adj" fmla="val 10000"/>
            </a:avLst>
          </a:prstGeom>
          <a:solidFill>
            <a:srgbClr val="1E243A"/>
          </a:solidFill>
          <a:ln w="19050">
            <a:solidFill>
              <a:srgbClr val="3A4466"/>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8A90A4"/>
                </a:solidFill>
                <a:latin typeface="Segoe UI"/>
              </a:rPr>
              <a:t>3</a:t>
            </a:r>
          </a:p>
          <a:p>
            <a:pPr algn="ctr"/>
            <a:r>
              <a:rPr sz="1400" b="1" dirty="0">
                <a:solidFill>
                  <a:srgbClr val="FFFFFF"/>
                </a:solidFill>
                <a:latin typeface="Segoe UI"/>
              </a:rPr>
              <a:t>Cellular</a:t>
            </a:r>
          </a:p>
          <a:p>
            <a:pPr algn="ctr"/>
            <a:r>
              <a:rPr sz="1400" b="1" dirty="0">
                <a:solidFill>
                  <a:srgbClr val="FFFFFF"/>
                </a:solidFill>
                <a:latin typeface="Segoe UI"/>
              </a:rPr>
              <a:t>Automata</a:t>
            </a:r>
          </a:p>
          <a:p>
            <a:pPr algn="ctr">
              <a:spcBef>
                <a:spcPts val="500"/>
              </a:spcBef>
            </a:pPr>
            <a:r>
              <a:rPr sz="950" dirty="0">
                <a:solidFill>
                  <a:srgbClr val="8A90A4"/>
                </a:solidFill>
                <a:latin typeface="Segoe UI"/>
              </a:rPr>
              <a:t>3×3 rule smooths it into cave structure</a:t>
            </a:r>
          </a:p>
        </p:txBody>
      </p:sp>
      <p:sp>
        <p:nvSpPr>
          <p:cNvPr id="10" name="Rounded Rectangle 9"/>
          <p:cNvSpPr/>
          <p:nvPr/>
        </p:nvSpPr>
        <p:spPr>
          <a:xfrm>
            <a:off x="4914900" y="2514600"/>
            <a:ext cx="1371600" cy="1874519"/>
          </a:xfrm>
          <a:prstGeom prst="roundRect">
            <a:avLst>
              <a:gd name="adj" fmla="val 10000"/>
            </a:avLst>
          </a:prstGeom>
          <a:solidFill>
            <a:srgbClr val="1E243A"/>
          </a:solidFill>
          <a:ln w="19050">
            <a:solidFill>
              <a:srgbClr val="B8531F"/>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B8531F"/>
                </a:solidFill>
                <a:latin typeface="Segoe UI"/>
              </a:rPr>
              <a:t>4</a:t>
            </a:r>
          </a:p>
          <a:p>
            <a:pPr algn="ctr"/>
            <a:r>
              <a:rPr sz="1400" b="1" dirty="0">
                <a:solidFill>
                  <a:srgbClr val="FFFFFF"/>
                </a:solidFill>
                <a:latin typeface="Segoe UI"/>
              </a:rPr>
              <a:t>BFS</a:t>
            </a:r>
          </a:p>
          <a:p>
            <a:pPr algn="ctr"/>
            <a:r>
              <a:rPr sz="1400" b="1" dirty="0">
                <a:solidFill>
                  <a:srgbClr val="FFFFFF"/>
                </a:solidFill>
                <a:latin typeface="Segoe UI"/>
              </a:rPr>
              <a:t>Flood Fill</a:t>
            </a:r>
          </a:p>
          <a:p>
            <a:pPr algn="ctr">
              <a:spcBef>
                <a:spcPts val="500"/>
              </a:spcBef>
            </a:pPr>
            <a:r>
              <a:rPr sz="950" dirty="0">
                <a:solidFill>
                  <a:srgbClr val="8A90A4"/>
                </a:solidFill>
                <a:latin typeface="Segoe UI"/>
              </a:rPr>
              <a:t>measure what is actually reachable</a:t>
            </a:r>
          </a:p>
        </p:txBody>
      </p:sp>
      <p:sp>
        <p:nvSpPr>
          <p:cNvPr id="11" name="Rounded Rectangle 10"/>
          <p:cNvSpPr/>
          <p:nvPr/>
        </p:nvSpPr>
        <p:spPr>
          <a:xfrm>
            <a:off x="6364224" y="2514600"/>
            <a:ext cx="1371600" cy="1874519"/>
          </a:xfrm>
          <a:prstGeom prst="roundRect">
            <a:avLst>
              <a:gd name="adj" fmla="val 10000"/>
            </a:avLst>
          </a:prstGeom>
          <a:solidFill>
            <a:srgbClr val="1E243A"/>
          </a:solidFill>
          <a:ln w="19050">
            <a:solidFill>
              <a:srgbClr val="B8531F"/>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B8531F"/>
                </a:solidFill>
                <a:latin typeface="Segoe UI"/>
              </a:rPr>
              <a:t>5</a:t>
            </a:r>
          </a:p>
          <a:p>
            <a:pPr algn="ctr"/>
            <a:r>
              <a:rPr sz="1400" b="1" dirty="0">
                <a:solidFill>
                  <a:srgbClr val="FFFFFF"/>
                </a:solidFill>
                <a:latin typeface="Segoe UI"/>
              </a:rPr>
              <a:t>BFS</a:t>
            </a:r>
          </a:p>
          <a:p>
            <a:pPr algn="ctr"/>
            <a:r>
              <a:rPr sz="1400" b="1" dirty="0">
                <a:solidFill>
                  <a:srgbClr val="FFFFFF"/>
                </a:solidFill>
                <a:latin typeface="Segoe UI"/>
              </a:rPr>
              <a:t>Repair</a:t>
            </a:r>
          </a:p>
          <a:p>
            <a:pPr algn="ctr">
              <a:spcBef>
                <a:spcPts val="500"/>
              </a:spcBef>
            </a:pPr>
            <a:r>
              <a:rPr sz="950" dirty="0">
                <a:solidFill>
                  <a:srgbClr val="8A90A4"/>
                </a:solidFill>
                <a:latin typeface="Segoe UI"/>
              </a:rPr>
              <a:t>carve corridors into every orphan</a:t>
            </a:r>
          </a:p>
        </p:txBody>
      </p:sp>
      <p:sp>
        <p:nvSpPr>
          <p:cNvPr id="12" name="Rounded Rectangle 11"/>
          <p:cNvSpPr/>
          <p:nvPr/>
        </p:nvSpPr>
        <p:spPr>
          <a:xfrm>
            <a:off x="7813548" y="2514600"/>
            <a:ext cx="1371600" cy="1874519"/>
          </a:xfrm>
          <a:prstGeom prst="roundRect">
            <a:avLst>
              <a:gd name="adj" fmla="val 10000"/>
            </a:avLst>
          </a:prstGeom>
          <a:solidFill>
            <a:srgbClr val="1E243A"/>
          </a:solidFill>
          <a:ln w="19050">
            <a:solidFill>
              <a:srgbClr val="B8531F"/>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B8531F"/>
                </a:solidFill>
                <a:latin typeface="Segoe UI"/>
              </a:rPr>
              <a:t>6</a:t>
            </a:r>
          </a:p>
          <a:p>
            <a:pPr algn="ctr"/>
            <a:r>
              <a:rPr sz="1400" b="1" dirty="0">
                <a:solidFill>
                  <a:srgbClr val="FFFFFF"/>
                </a:solidFill>
                <a:latin typeface="Segoe UI"/>
              </a:rPr>
              <a:t>Decision</a:t>
            </a:r>
          </a:p>
          <a:p>
            <a:pPr algn="ctr"/>
            <a:r>
              <a:rPr sz="1400" b="1" dirty="0">
                <a:solidFill>
                  <a:srgbClr val="FFFFFF"/>
                </a:solidFill>
                <a:latin typeface="Segoe UI"/>
              </a:rPr>
              <a:t>Tree</a:t>
            </a:r>
          </a:p>
          <a:p>
            <a:pPr algn="ctr">
              <a:spcBef>
                <a:spcPts val="500"/>
              </a:spcBef>
            </a:pPr>
            <a:r>
              <a:rPr sz="950" dirty="0">
                <a:solidFill>
                  <a:srgbClr val="8A90A4"/>
                </a:solidFill>
                <a:latin typeface="Segoe UI"/>
              </a:rPr>
              <a:t>score each candidate against the player</a:t>
            </a:r>
          </a:p>
        </p:txBody>
      </p:sp>
      <p:sp>
        <p:nvSpPr>
          <p:cNvPr id="13" name="Rounded Rectangle 12"/>
          <p:cNvSpPr/>
          <p:nvPr/>
        </p:nvSpPr>
        <p:spPr>
          <a:xfrm>
            <a:off x="9262872" y="2514600"/>
            <a:ext cx="1371600" cy="1874519"/>
          </a:xfrm>
          <a:prstGeom prst="roundRect">
            <a:avLst>
              <a:gd name="adj" fmla="val 10000"/>
            </a:avLst>
          </a:prstGeom>
          <a:solidFill>
            <a:srgbClr val="1E243A"/>
          </a:solidFill>
          <a:ln w="19050">
            <a:solidFill>
              <a:srgbClr val="3A4466"/>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8A90A4"/>
                </a:solidFill>
                <a:latin typeface="Segoe UI"/>
              </a:rPr>
              <a:t>7</a:t>
            </a:r>
          </a:p>
          <a:p>
            <a:pPr algn="ctr"/>
            <a:r>
              <a:rPr sz="1400" b="1" dirty="0">
                <a:solidFill>
                  <a:srgbClr val="FFFFFF"/>
                </a:solidFill>
                <a:latin typeface="Segoe UI"/>
              </a:rPr>
              <a:t>Best</a:t>
            </a:r>
          </a:p>
          <a:p>
            <a:pPr algn="ctr"/>
            <a:r>
              <a:rPr sz="1400" b="1" dirty="0">
                <a:solidFill>
                  <a:srgbClr val="FFFFFF"/>
                </a:solidFill>
                <a:latin typeface="Segoe UI"/>
              </a:rPr>
              <a:t>Candidate</a:t>
            </a:r>
          </a:p>
          <a:p>
            <a:pPr algn="ctr">
              <a:spcBef>
                <a:spcPts val="500"/>
              </a:spcBef>
            </a:pPr>
            <a:r>
              <a:rPr sz="950" dirty="0">
                <a:solidFill>
                  <a:srgbClr val="8A90A4"/>
                </a:solidFill>
                <a:latin typeface="Segoe UI"/>
              </a:rPr>
              <a:t>elitism keeps the best ever seen</a:t>
            </a:r>
          </a:p>
        </p:txBody>
      </p:sp>
      <p:sp>
        <p:nvSpPr>
          <p:cNvPr id="14" name="Rounded Rectangle 13"/>
          <p:cNvSpPr/>
          <p:nvPr/>
        </p:nvSpPr>
        <p:spPr>
          <a:xfrm>
            <a:off x="10712196" y="2514600"/>
            <a:ext cx="1371600" cy="1874519"/>
          </a:xfrm>
          <a:prstGeom prst="roundRect">
            <a:avLst>
              <a:gd name="adj" fmla="val 10000"/>
            </a:avLst>
          </a:prstGeom>
          <a:solidFill>
            <a:srgbClr val="1E243A"/>
          </a:solidFill>
          <a:ln w="19050">
            <a:solidFill>
              <a:srgbClr val="3A4466"/>
            </a:solidFill>
          </a:ln>
          <a:effectLst/>
        </p:spPr>
        <p:style>
          <a:lnRef idx="1">
            <a:schemeClr val="accent1"/>
          </a:lnRef>
          <a:fillRef idx="3">
            <a:schemeClr val="accent1"/>
          </a:fillRef>
          <a:effectRef idx="2">
            <a:schemeClr val="accent1"/>
          </a:effectRef>
          <a:fontRef idx="minor">
            <a:schemeClr val="lt1"/>
          </a:fontRef>
        </p:style>
        <p:txBody>
          <a:bodyPr wrap="square" lIns="64008" tIns="91440" rIns="64008" bIns="54864" rtlCol="0" anchor="ctr"/>
          <a:lstStyle/>
          <a:p>
            <a:pPr algn="ctr"/>
            <a:r>
              <a:rPr sz="1300" b="1" dirty="0">
                <a:solidFill>
                  <a:srgbClr val="8A90A4"/>
                </a:solidFill>
                <a:latin typeface="Segoe UI"/>
              </a:rPr>
              <a:t>8</a:t>
            </a:r>
          </a:p>
          <a:p>
            <a:pPr algn="ctr"/>
            <a:r>
              <a:rPr sz="1400" b="1" dirty="0">
                <a:solidFill>
                  <a:srgbClr val="FFFFFF"/>
                </a:solidFill>
                <a:latin typeface="Segoe UI"/>
              </a:rPr>
              <a:t>Entity</a:t>
            </a:r>
          </a:p>
          <a:p>
            <a:pPr algn="ctr"/>
            <a:r>
              <a:rPr sz="1400" b="1" dirty="0">
                <a:solidFill>
                  <a:srgbClr val="FFFFFF"/>
                </a:solidFill>
                <a:latin typeface="Segoe UI"/>
              </a:rPr>
              <a:t>Placement</a:t>
            </a:r>
          </a:p>
          <a:p>
            <a:pPr algn="ctr">
              <a:spcBef>
                <a:spcPts val="500"/>
              </a:spcBef>
            </a:pPr>
            <a:r>
              <a:rPr sz="950" dirty="0">
                <a:solidFill>
                  <a:srgbClr val="8A90A4"/>
                </a:solidFill>
                <a:latin typeface="Segoe UI"/>
              </a:rPr>
              <a:t>keys, door, chests, monsters — A*-gated</a:t>
            </a:r>
          </a:p>
        </p:txBody>
      </p:sp>
      <p:sp>
        <p:nvSpPr>
          <p:cNvPr id="15" name="Rounded Rectangle 14"/>
          <p:cNvSpPr/>
          <p:nvPr/>
        </p:nvSpPr>
        <p:spPr>
          <a:xfrm>
            <a:off x="566928" y="4709160"/>
            <a:ext cx="11064240" cy="731520"/>
          </a:xfrm>
          <a:prstGeom prst="roundRect">
            <a:avLst>
              <a:gd name="adj" fmla="val 12000"/>
            </a:avLst>
          </a:prstGeom>
          <a:solidFill>
            <a:srgbClr val="1E243A"/>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B8C4DE"/>
                </a:solidFill>
                <a:latin typeface="Segoe UI"/>
              </a:rPr>
              <a:t>Every stage is a separate function with one clear contract — so any stage can be tested, measured and replaced independently of the game loop.</a:t>
            </a:r>
          </a:p>
        </p:txBody>
      </p:sp>
      <p:sp>
        <p:nvSpPr>
          <p:cNvPr id="16" name="Rounded Rectangle 15"/>
          <p:cNvSpPr/>
          <p:nvPr/>
        </p:nvSpPr>
        <p:spPr>
          <a:xfrm>
            <a:off x="566928" y="5577840"/>
            <a:ext cx="11064240" cy="566928"/>
          </a:xfrm>
          <a:prstGeom prst="roundRect">
            <a:avLst>
              <a:gd name="adj" fmla="val 12000"/>
            </a:avLst>
          </a:prstGeom>
          <a:solidFill>
            <a:srgbClr val="2A180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E89B5A"/>
                </a:solidFill>
                <a:latin typeface="Segoe UI"/>
              </a:rPr>
              <a:t>Input:  a 64-bit random seed  +  the player's profile        →        Output:  a complete, validated, personalised GeneratedWorld</a:t>
            </a:r>
          </a:p>
        </p:txBody>
      </p:sp>
      <p:sp>
        <p:nvSpPr>
          <p:cNvPr id="17" name="TextBox 16"/>
          <p:cNvSpPr txBox="1"/>
          <p:nvPr/>
        </p:nvSpPr>
        <p:spPr>
          <a:xfrm>
            <a:off x="502920" y="6309360"/>
            <a:ext cx="9601200" cy="292608"/>
          </a:xfrm>
          <a:prstGeom prst="rect">
            <a:avLst/>
          </a:prstGeom>
          <a:noFill/>
        </p:spPr>
        <p:txBody>
          <a:bodyPr wrap="none" lIns="0" tIns="0" rIns="0" bIns="0">
            <a:spAutoFit/>
          </a:bodyPr>
          <a:lstStyle/>
          <a:p>
            <a:r>
              <a:rPr sz="1050" i="1">
                <a:solidFill>
                  <a:srgbClr val="7A86A4"/>
                </a:solidFill>
                <a:latin typeface="Segoe UI"/>
              </a:rPr>
              <a:t>Stages 1, 4, 5 and 6 (highlighted) are the techniques from the Literature Review that we implemented.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1. Genetic Algorithm</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Evolving good layouts out of noise</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8 / 21</a:t>
            </a:r>
          </a:p>
        </p:txBody>
      </p:sp>
      <p:sp>
        <p:nvSpPr>
          <p:cNvPr id="6" name="TextBox 5"/>
          <p:cNvSpPr txBox="1"/>
          <p:nvPr/>
        </p:nvSpPr>
        <p:spPr>
          <a:xfrm>
            <a:off x="777240" y="1600200"/>
            <a:ext cx="5577840" cy="4114800"/>
          </a:xfrm>
          <a:prstGeom prst="rect">
            <a:avLst/>
          </a:prstGeom>
          <a:noFill/>
        </p:spPr>
        <p:txBody>
          <a:bodyPr wrap="square" lIns="18288" tIns="0" rIns="18288" bIns="0">
            <a:spAutoFit/>
          </a:bodyPr>
          <a:lstStyle/>
          <a:p>
            <a:pPr marL="219456" indent="-219456" algn="l"/>
            <a:r>
              <a:rPr sz="1300" b="1">
                <a:solidFill>
                  <a:srgbClr val="1F4E9C"/>
                </a:solidFill>
              </a:rPr>
              <a:t>▪   </a:t>
            </a:r>
            <a:r>
              <a:rPr sz="1400" b="1">
                <a:solidFill>
                  <a:srgbClr val="141828"/>
                </a:solidFill>
                <a:latin typeface="Segoe UI"/>
              </a:rPr>
              <a:t>A chromosome is one whole 81 × 81 tile grid.</a:t>
            </a:r>
          </a:p>
          <a:p>
            <a:pPr algn="l">
              <a:spcAft>
                <a:spcPts val="700"/>
              </a:spcAft>
            </a:pPr>
            <a:endParaRPr sz="1400" b="1">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Seeding</a:t>
            </a:r>
            <a:r>
              <a:rPr sz="1400" b="0">
                <a:solidFill>
                  <a:srgbClr val="141828"/>
                </a:solidFill>
                <a:latin typeface="Segoe UI"/>
              </a:rPr>
              <a:t> — 8 grids filled from a categorical distribution: 18% wall, 34% floor, 10% water, 13% trap, plus scrolls and keys.</a:t>
            </a:r>
          </a:p>
          <a:p>
            <a:pPr algn="l">
              <a:spcAft>
                <a:spcPts val="7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Elitism</a:t>
            </a:r>
            <a:r>
              <a:rPr sz="1400" b="0">
                <a:solidFill>
                  <a:srgbClr val="141828"/>
                </a:solidFill>
                <a:latin typeface="Segoe UI"/>
              </a:rPr>
              <a:t> —  the best 2 grids pass into the next generation unchanged, so fitness can never regress.</a:t>
            </a:r>
          </a:p>
          <a:p>
            <a:pPr algn="l">
              <a:spcAft>
                <a:spcPts val="7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Crossover</a:t>
            </a:r>
            <a:r>
              <a:rPr sz="1400" b="0">
                <a:solidFill>
                  <a:srgbClr val="141828"/>
                </a:solidFill>
                <a:latin typeface="Segoe UI"/>
              </a:rPr>
              <a:t> —  two-point region swap at a random split row and column, so children inherit large contiguous regions of both parents.</a:t>
            </a:r>
          </a:p>
          <a:p>
            <a:pPr algn="l">
              <a:spcAft>
                <a:spcPts val="7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Mutation</a:t>
            </a:r>
            <a:r>
              <a:rPr sz="1400" b="0">
                <a:solidFill>
                  <a:srgbClr val="141828"/>
                </a:solidFill>
                <a:latin typeface="Segoe UI"/>
              </a:rPr>
              <a:t> —  rate ramps 0.06 → 0.12. Exploit early, explore late. A fixed low rate made the population collapse onto one layout.</a:t>
            </a:r>
          </a:p>
        </p:txBody>
      </p:sp>
      <p:pic>
        <p:nvPicPr>
          <p:cNvPr id="7" name="Picture 6" descr="fig_5_4_genetic_algorithm.png"/>
          <p:cNvPicPr>
            <a:picLocks noChangeAspect="1"/>
          </p:cNvPicPr>
          <p:nvPr/>
        </p:nvPicPr>
        <p:blipFill>
          <a:blip r:embed="rId3"/>
          <a:stretch>
            <a:fillRect/>
          </a:stretch>
        </p:blipFill>
        <p:spPr>
          <a:xfrm>
            <a:off x="6583680" y="1645920"/>
            <a:ext cx="5029200" cy="2337715"/>
          </a:xfrm>
          <a:prstGeom prst="rect">
            <a:avLst/>
          </a:prstGeom>
        </p:spPr>
      </p:pic>
      <p:sp>
        <p:nvSpPr>
          <p:cNvPr id="8" name="Rounded Rectangle 7"/>
          <p:cNvSpPr/>
          <p:nvPr/>
        </p:nvSpPr>
        <p:spPr>
          <a:xfrm>
            <a:off x="6583680" y="3931920"/>
            <a:ext cx="5029200" cy="384048"/>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50" b="1">
                <a:solidFill>
                  <a:srgbClr val="FFFFFF"/>
                </a:solidFill>
                <a:latin typeface="Segoe UI"/>
              </a:rPr>
              <a:t>Measured fitness progression  (level-5 profile, seed 12345)</a:t>
            </a:r>
          </a:p>
        </p:txBody>
      </p:sp>
      <p:sp>
        <p:nvSpPr>
          <p:cNvPr id="9" name="Rectangle 8"/>
          <p:cNvSpPr/>
          <p:nvPr/>
        </p:nvSpPr>
        <p:spPr>
          <a:xfrm>
            <a:off x="6583680" y="4370832"/>
            <a:ext cx="1005840" cy="310896"/>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1">
                <a:solidFill>
                  <a:srgbClr val="FFFFFF"/>
                </a:solidFill>
                <a:latin typeface="Segoe UI"/>
              </a:rPr>
              <a:t>Gen</a:t>
            </a:r>
          </a:p>
        </p:txBody>
      </p:sp>
      <p:sp>
        <p:nvSpPr>
          <p:cNvPr id="10" name="Rectangle 9"/>
          <p:cNvSpPr/>
          <p:nvPr/>
        </p:nvSpPr>
        <p:spPr>
          <a:xfrm>
            <a:off x="7589520" y="4370832"/>
            <a:ext cx="1005840" cy="310896"/>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1">
                <a:solidFill>
                  <a:srgbClr val="FFFFFF"/>
                </a:solidFill>
                <a:latin typeface="Segoe UI"/>
              </a:rPr>
              <a:t>Best</a:t>
            </a:r>
          </a:p>
        </p:txBody>
      </p:sp>
      <p:sp>
        <p:nvSpPr>
          <p:cNvPr id="11" name="Rectangle 10"/>
          <p:cNvSpPr/>
          <p:nvPr/>
        </p:nvSpPr>
        <p:spPr>
          <a:xfrm>
            <a:off x="8595360" y="4370832"/>
            <a:ext cx="1005840" cy="310896"/>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1">
                <a:solidFill>
                  <a:srgbClr val="FFFFFF"/>
                </a:solidFill>
                <a:latin typeface="Segoe UI"/>
              </a:rPr>
              <a:t>Mean</a:t>
            </a:r>
          </a:p>
        </p:txBody>
      </p:sp>
      <p:sp>
        <p:nvSpPr>
          <p:cNvPr id="12" name="Rectangle 11"/>
          <p:cNvSpPr/>
          <p:nvPr/>
        </p:nvSpPr>
        <p:spPr>
          <a:xfrm>
            <a:off x="9601200" y="4370832"/>
            <a:ext cx="1005840" cy="310896"/>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1">
                <a:solidFill>
                  <a:srgbClr val="FFFFFF"/>
                </a:solidFill>
                <a:latin typeface="Segoe UI"/>
              </a:rPr>
              <a:t>open_ratio</a:t>
            </a:r>
          </a:p>
        </p:txBody>
      </p:sp>
      <p:sp>
        <p:nvSpPr>
          <p:cNvPr id="13" name="Rectangle 12"/>
          <p:cNvSpPr/>
          <p:nvPr/>
        </p:nvSpPr>
        <p:spPr>
          <a:xfrm>
            <a:off x="10607040" y="4370832"/>
            <a:ext cx="1005840" cy="310896"/>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1">
                <a:solidFill>
                  <a:srgbClr val="FFFFFF"/>
                </a:solidFill>
                <a:latin typeface="Segoe UI"/>
              </a:rPr>
              <a:t>Reachable</a:t>
            </a:r>
          </a:p>
        </p:txBody>
      </p:sp>
      <p:sp>
        <p:nvSpPr>
          <p:cNvPr id="14" name="Rectangle 13"/>
          <p:cNvSpPr/>
          <p:nvPr/>
        </p:nvSpPr>
        <p:spPr>
          <a:xfrm>
            <a:off x="6583680" y="4681728"/>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0</a:t>
            </a:r>
          </a:p>
        </p:txBody>
      </p:sp>
      <p:sp>
        <p:nvSpPr>
          <p:cNvPr id="15" name="Rectangle 14"/>
          <p:cNvSpPr/>
          <p:nvPr/>
        </p:nvSpPr>
        <p:spPr>
          <a:xfrm>
            <a:off x="7589520" y="4681728"/>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7.252</a:t>
            </a:r>
          </a:p>
        </p:txBody>
      </p:sp>
      <p:sp>
        <p:nvSpPr>
          <p:cNvPr id="16" name="Rectangle 15"/>
          <p:cNvSpPr/>
          <p:nvPr/>
        </p:nvSpPr>
        <p:spPr>
          <a:xfrm>
            <a:off x="8595360" y="4681728"/>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7.204</a:t>
            </a:r>
          </a:p>
        </p:txBody>
      </p:sp>
      <p:sp>
        <p:nvSpPr>
          <p:cNvPr id="17" name="Rectangle 16"/>
          <p:cNvSpPr/>
          <p:nvPr/>
        </p:nvSpPr>
        <p:spPr>
          <a:xfrm>
            <a:off x="9601200" y="4681728"/>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0.341</a:t>
            </a:r>
          </a:p>
        </p:txBody>
      </p:sp>
      <p:sp>
        <p:nvSpPr>
          <p:cNvPr id="18" name="Rectangle 17"/>
          <p:cNvSpPr/>
          <p:nvPr/>
        </p:nvSpPr>
        <p:spPr>
          <a:xfrm>
            <a:off x="10607040" y="4681728"/>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E7A3C"/>
                </a:solidFill>
                <a:latin typeface="Segoe UI"/>
              </a:rPr>
              <a:t>1.000</a:t>
            </a:r>
          </a:p>
        </p:txBody>
      </p:sp>
      <p:sp>
        <p:nvSpPr>
          <p:cNvPr id="19" name="Rectangle 18"/>
          <p:cNvSpPr/>
          <p:nvPr/>
        </p:nvSpPr>
        <p:spPr>
          <a:xfrm>
            <a:off x="6583680" y="4992624"/>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1</a:t>
            </a:r>
          </a:p>
        </p:txBody>
      </p:sp>
      <p:sp>
        <p:nvSpPr>
          <p:cNvPr id="20" name="Rectangle 19"/>
          <p:cNvSpPr/>
          <p:nvPr/>
        </p:nvSpPr>
        <p:spPr>
          <a:xfrm>
            <a:off x="7589520" y="4992624"/>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7.288</a:t>
            </a:r>
          </a:p>
        </p:txBody>
      </p:sp>
      <p:sp>
        <p:nvSpPr>
          <p:cNvPr id="21" name="Rectangle 20"/>
          <p:cNvSpPr/>
          <p:nvPr/>
        </p:nvSpPr>
        <p:spPr>
          <a:xfrm>
            <a:off x="8595360" y="4992624"/>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7.231</a:t>
            </a:r>
          </a:p>
        </p:txBody>
      </p:sp>
      <p:sp>
        <p:nvSpPr>
          <p:cNvPr id="22" name="Rectangle 21"/>
          <p:cNvSpPr/>
          <p:nvPr/>
        </p:nvSpPr>
        <p:spPr>
          <a:xfrm>
            <a:off x="9601200" y="4992624"/>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0.355</a:t>
            </a:r>
          </a:p>
        </p:txBody>
      </p:sp>
      <p:sp>
        <p:nvSpPr>
          <p:cNvPr id="23" name="Rectangle 22"/>
          <p:cNvSpPr/>
          <p:nvPr/>
        </p:nvSpPr>
        <p:spPr>
          <a:xfrm>
            <a:off x="10607040" y="4992624"/>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E7A3C"/>
                </a:solidFill>
                <a:latin typeface="Segoe UI"/>
              </a:rPr>
              <a:t>1.000</a:t>
            </a:r>
          </a:p>
        </p:txBody>
      </p:sp>
      <p:sp>
        <p:nvSpPr>
          <p:cNvPr id="24" name="Rectangle 23"/>
          <p:cNvSpPr/>
          <p:nvPr/>
        </p:nvSpPr>
        <p:spPr>
          <a:xfrm>
            <a:off x="6583680" y="5303520"/>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2</a:t>
            </a:r>
          </a:p>
        </p:txBody>
      </p:sp>
      <p:sp>
        <p:nvSpPr>
          <p:cNvPr id="25" name="Rectangle 24"/>
          <p:cNvSpPr/>
          <p:nvPr/>
        </p:nvSpPr>
        <p:spPr>
          <a:xfrm>
            <a:off x="7589520" y="5303520"/>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7.310</a:t>
            </a:r>
          </a:p>
        </p:txBody>
      </p:sp>
      <p:sp>
        <p:nvSpPr>
          <p:cNvPr id="26" name="Rectangle 25"/>
          <p:cNvSpPr/>
          <p:nvPr/>
        </p:nvSpPr>
        <p:spPr>
          <a:xfrm>
            <a:off x="8595360" y="5303520"/>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7.224</a:t>
            </a:r>
          </a:p>
        </p:txBody>
      </p:sp>
      <p:sp>
        <p:nvSpPr>
          <p:cNvPr id="27" name="Rectangle 26"/>
          <p:cNvSpPr/>
          <p:nvPr/>
        </p:nvSpPr>
        <p:spPr>
          <a:xfrm>
            <a:off x="9601200" y="5303520"/>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0.364</a:t>
            </a:r>
          </a:p>
        </p:txBody>
      </p:sp>
      <p:sp>
        <p:nvSpPr>
          <p:cNvPr id="28" name="Rectangle 27"/>
          <p:cNvSpPr/>
          <p:nvPr/>
        </p:nvSpPr>
        <p:spPr>
          <a:xfrm>
            <a:off x="10607040" y="5303520"/>
            <a:ext cx="1005840" cy="310896"/>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E7A3C"/>
                </a:solidFill>
                <a:latin typeface="Segoe UI"/>
              </a:rPr>
              <a:t>1.000</a:t>
            </a:r>
          </a:p>
        </p:txBody>
      </p:sp>
      <p:sp>
        <p:nvSpPr>
          <p:cNvPr id="29" name="Rectangle 28"/>
          <p:cNvSpPr/>
          <p:nvPr/>
        </p:nvSpPr>
        <p:spPr>
          <a:xfrm>
            <a:off x="6583680" y="5614416"/>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3</a:t>
            </a:r>
          </a:p>
        </p:txBody>
      </p:sp>
      <p:sp>
        <p:nvSpPr>
          <p:cNvPr id="30" name="Rectangle 29"/>
          <p:cNvSpPr/>
          <p:nvPr/>
        </p:nvSpPr>
        <p:spPr>
          <a:xfrm>
            <a:off x="7589520" y="5614416"/>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7.264</a:t>
            </a:r>
          </a:p>
        </p:txBody>
      </p:sp>
      <p:sp>
        <p:nvSpPr>
          <p:cNvPr id="31" name="Rectangle 30"/>
          <p:cNvSpPr/>
          <p:nvPr/>
        </p:nvSpPr>
        <p:spPr>
          <a:xfrm>
            <a:off x="8595360" y="5614416"/>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7.214</a:t>
            </a:r>
          </a:p>
        </p:txBody>
      </p:sp>
      <p:sp>
        <p:nvSpPr>
          <p:cNvPr id="32" name="Rectangle 31"/>
          <p:cNvSpPr/>
          <p:nvPr/>
        </p:nvSpPr>
        <p:spPr>
          <a:xfrm>
            <a:off x="9601200" y="5614416"/>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41828"/>
                </a:solidFill>
                <a:latin typeface="Segoe UI"/>
              </a:rPr>
              <a:t>0.346</a:t>
            </a:r>
          </a:p>
        </p:txBody>
      </p:sp>
      <p:sp>
        <p:nvSpPr>
          <p:cNvPr id="33" name="Rectangle 32"/>
          <p:cNvSpPr/>
          <p:nvPr/>
        </p:nvSpPr>
        <p:spPr>
          <a:xfrm>
            <a:off x="10607040" y="5614416"/>
            <a:ext cx="1005840" cy="310896"/>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1050" b="0">
                <a:solidFill>
                  <a:srgbClr val="1E7A3C"/>
                </a:solidFill>
                <a:latin typeface="Segoe UI"/>
              </a:rPr>
              <a:t>1.000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3. Cellular Automata</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Turning noise into cave</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9 / 21</a:t>
            </a:r>
          </a:p>
        </p:txBody>
      </p:sp>
      <p:sp>
        <p:nvSpPr>
          <p:cNvPr id="6" name="TextBox 5"/>
          <p:cNvSpPr txBox="1"/>
          <p:nvPr/>
        </p:nvSpPr>
        <p:spPr>
          <a:xfrm>
            <a:off x="777240" y="1572768"/>
            <a:ext cx="10972800" cy="1371600"/>
          </a:xfrm>
          <a:prstGeom prst="rect">
            <a:avLst/>
          </a:prstGeom>
          <a:noFill/>
        </p:spPr>
        <p:txBody>
          <a:bodyPr wrap="square" lIns="18288" tIns="0" rIns="18288" bIns="0">
            <a:spAutoFit/>
          </a:bodyPr>
          <a:lstStyle/>
          <a:p>
            <a:pPr marL="219456" indent="-219456" algn="l"/>
            <a:r>
              <a:rPr sz="1400" b="1">
                <a:solidFill>
                  <a:srgbClr val="1F4E9C"/>
                </a:solidFill>
              </a:rPr>
              <a:t>▪   </a:t>
            </a:r>
            <a:r>
              <a:rPr sz="1500" b="1">
                <a:solidFill>
                  <a:srgbClr val="141828"/>
                </a:solidFill>
                <a:latin typeface="Segoe UI"/>
              </a:rPr>
              <a:t>The rule, applied to every cell over a 3 × 3 neighbourhood:</a:t>
            </a:r>
          </a:p>
          <a:p>
            <a:pPr marL="219456" indent="-219456" algn="l"/>
            <a:r>
              <a:rPr sz="1400" b="1">
                <a:solidFill>
                  <a:srgbClr val="1F4E9C"/>
                </a:solidFill>
              </a:rPr>
              <a:t>▪   </a:t>
            </a:r>
            <a:r>
              <a:rPr sz="1500" b="1">
                <a:solidFill>
                  <a:srgbClr val="141828"/>
                </a:solidFill>
                <a:latin typeface="Segoe UI"/>
              </a:rPr>
              <a:t>5 or more wall neighbours → becomes wall</a:t>
            </a:r>
            <a:r>
              <a:rPr sz="1500" b="0">
                <a:solidFill>
                  <a:srgbClr val="141828"/>
                </a:solidFill>
                <a:latin typeface="Segoe UI"/>
              </a:rPr>
              <a:t>      (kills isolated pillars and thin spurs)</a:t>
            </a:r>
          </a:p>
          <a:p>
            <a:pPr marL="219456" indent="-219456" algn="l"/>
            <a:r>
              <a:rPr sz="1400" b="1">
                <a:solidFill>
                  <a:srgbClr val="1F4E9C"/>
                </a:solidFill>
              </a:rPr>
              <a:t>▪   </a:t>
            </a:r>
            <a:r>
              <a:rPr sz="1500" b="1">
                <a:solidFill>
                  <a:srgbClr val="141828"/>
                </a:solidFill>
                <a:latin typeface="Segoe UI"/>
              </a:rPr>
              <a:t>water with ≤ 2 wall neighbours → floor</a:t>
            </a:r>
            <a:r>
              <a:rPr sz="1500" b="0">
                <a:solidFill>
                  <a:srgbClr val="141828"/>
                </a:solidFill>
                <a:latin typeface="Segoe UI"/>
              </a:rPr>
              <a:t>      (water hugs the open areas)</a:t>
            </a:r>
          </a:p>
          <a:p>
            <a:pPr marL="219456" indent="-219456" algn="l"/>
            <a:r>
              <a:rPr sz="1400" b="1">
                <a:solidFill>
                  <a:srgbClr val="1F4E9C"/>
                </a:solidFill>
              </a:rPr>
              <a:t>▪   </a:t>
            </a:r>
            <a:r>
              <a:rPr sz="1500" b="1">
                <a:solidFill>
                  <a:srgbClr val="141828"/>
                </a:solidFill>
                <a:latin typeface="Segoe UI"/>
              </a:rPr>
              <a:t>trap with ≤ 1 wall neighbour → floor</a:t>
            </a:r>
            <a:r>
              <a:rPr sz="1500" b="0">
                <a:solidFill>
                  <a:srgbClr val="141828"/>
                </a:solidFill>
                <a:latin typeface="Segoe UI"/>
              </a:rPr>
              <a:t>      (traps survive only where they matter)</a:t>
            </a:r>
          </a:p>
        </p:txBody>
      </p:sp>
      <p:pic>
        <p:nvPicPr>
          <p:cNvPr id="7" name="Picture 6" descr="fig_5_5_cellular_automata.png"/>
          <p:cNvPicPr>
            <a:picLocks noChangeAspect="1"/>
          </p:cNvPicPr>
          <p:nvPr/>
        </p:nvPicPr>
        <p:blipFill>
          <a:blip r:embed="rId3"/>
          <a:stretch>
            <a:fillRect/>
          </a:stretch>
        </p:blipFill>
        <p:spPr>
          <a:xfrm>
            <a:off x="731520" y="2788920"/>
            <a:ext cx="7589520" cy="3127549"/>
          </a:xfrm>
          <a:prstGeom prst="rect">
            <a:avLst/>
          </a:prstGeom>
        </p:spPr>
      </p:pic>
      <p:sp>
        <p:nvSpPr>
          <p:cNvPr id="8" name="TextBox 7"/>
          <p:cNvSpPr txBox="1"/>
          <p:nvPr/>
        </p:nvSpPr>
        <p:spPr>
          <a:xfrm>
            <a:off x="8641080" y="2926080"/>
            <a:ext cx="3063240" cy="3017520"/>
          </a:xfrm>
          <a:prstGeom prst="rect">
            <a:avLst/>
          </a:prstGeom>
          <a:noFill/>
        </p:spPr>
        <p:txBody>
          <a:bodyPr wrap="square" lIns="18288" tIns="0" rIns="18288" bIns="0">
            <a:spAutoFit/>
          </a:bodyPr>
          <a:lstStyle/>
          <a:p>
            <a:pPr marL="219456" indent="-219456" algn="l"/>
            <a:r>
              <a:rPr sz="1150" b="1">
                <a:solidFill>
                  <a:srgbClr val="1F4E9C"/>
                </a:solidFill>
              </a:rPr>
              <a:t>▪   </a:t>
            </a:r>
            <a:r>
              <a:rPr sz="1250" b="1">
                <a:solidFill>
                  <a:srgbClr val="141828"/>
                </a:solidFill>
                <a:latin typeface="Segoe UI"/>
              </a:rPr>
              <a:t>Synchronous update</a:t>
            </a:r>
          </a:p>
          <a:p>
            <a:pPr marL="219456" indent="-219456" algn="l"/>
            <a:r>
              <a:rPr sz="1150" b="1">
                <a:solidFill>
                  <a:srgbClr val="1F4E9C"/>
                </a:solidFill>
              </a:rPr>
              <a:t>▪   </a:t>
            </a:r>
            <a:r>
              <a:rPr sz="1250" b="0">
                <a:solidFill>
                  <a:srgbClr val="141828"/>
                </a:solidFill>
                <a:latin typeface="Segoe UI"/>
              </a:rPr>
              <a:t>Reads only from the current grid, writes to a separate next grid — exactly like Conway's Game of Life.</a:t>
            </a:r>
          </a:p>
          <a:p>
            <a:pPr algn="l">
              <a:spcAft>
                <a:spcPts val="6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In-place would be faster but wrong</a:t>
            </a:r>
          </a:p>
          <a:p>
            <a:pPr marL="219456" indent="-219456" algn="l"/>
            <a:r>
              <a:rPr sz="1150" b="1">
                <a:solidFill>
                  <a:srgbClr val="1F4E9C"/>
                </a:solidFill>
              </a:rPr>
              <a:t>▪   </a:t>
            </a:r>
            <a:r>
              <a:rPr sz="1250" b="0">
                <a:solidFill>
                  <a:srgbClr val="141828"/>
                </a:solidFill>
                <a:latin typeface="Segoe UI"/>
              </a:rPr>
              <a:t>An in-place version would give results that depend on scan order, which breaks reproducibility from a seed.</a:t>
            </a:r>
          </a:p>
          <a:p>
            <a:pPr algn="l">
              <a:spcAft>
                <a:spcPts val="6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Steps ramp with generation</a:t>
            </a:r>
          </a:p>
          <a:p>
            <a:pPr marL="219456" indent="-219456" algn="l"/>
            <a:r>
              <a:rPr sz="1150" b="1">
                <a:solidFill>
                  <a:srgbClr val="1F4E9C"/>
                </a:solidFill>
              </a:rPr>
              <a:t>▪   </a:t>
            </a:r>
            <a:r>
              <a:rPr sz="1250" b="0">
                <a:solidFill>
                  <a:srgbClr val="141828"/>
                </a:solidFill>
                <a:latin typeface="Segoe UI"/>
              </a:rPr>
              <a:t>1 + generation // 2, so later candidates get cleaned harder — biasing the population toward cleaner layouts.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4 &amp; 5. Breadth-First Search</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The guarantee that makes it a game</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10 / 21</a:t>
            </a:r>
          </a:p>
        </p:txBody>
      </p:sp>
      <p:pic>
        <p:nvPicPr>
          <p:cNvPr id="6" name="Picture 5" descr="fig_5_6_bfs_connectivity.png"/>
          <p:cNvPicPr>
            <a:picLocks noChangeAspect="1"/>
          </p:cNvPicPr>
          <p:nvPr/>
        </p:nvPicPr>
        <p:blipFill>
          <a:blip r:embed="rId3"/>
          <a:stretch>
            <a:fillRect/>
          </a:stretch>
        </p:blipFill>
        <p:spPr>
          <a:xfrm>
            <a:off x="640080" y="1600200"/>
            <a:ext cx="6949440" cy="2645363"/>
          </a:xfrm>
          <a:prstGeom prst="rect">
            <a:avLst/>
          </a:prstGeom>
        </p:spPr>
      </p:pic>
      <p:sp>
        <p:nvSpPr>
          <p:cNvPr id="7" name="TextBox 6"/>
          <p:cNvSpPr txBox="1"/>
          <p:nvPr/>
        </p:nvSpPr>
        <p:spPr>
          <a:xfrm>
            <a:off x="7863840" y="1691640"/>
            <a:ext cx="3794760" cy="3108960"/>
          </a:xfrm>
          <a:prstGeom prst="rect">
            <a:avLst/>
          </a:prstGeom>
          <a:noFill/>
        </p:spPr>
        <p:txBody>
          <a:bodyPr wrap="square" lIns="18288" tIns="0" rIns="18288" bIns="0">
            <a:spAutoFit/>
          </a:bodyPr>
          <a:lstStyle/>
          <a:p>
            <a:pPr marL="219456" indent="-219456" algn="l"/>
            <a:r>
              <a:rPr sz="1200" b="1">
                <a:solidFill>
                  <a:srgbClr val="1F4E9C"/>
                </a:solidFill>
              </a:rPr>
              <a:t>▪   </a:t>
            </a:r>
            <a:r>
              <a:rPr sz="1300" b="1">
                <a:solidFill>
                  <a:srgbClr val="141828"/>
                </a:solidFill>
                <a:latin typeface="Segoe UI"/>
              </a:rPr>
              <a:t>Flood-fill from the spawn</a:t>
            </a:r>
            <a:r>
              <a:rPr sz="1300" b="0">
                <a:solidFill>
                  <a:srgbClr val="141828"/>
                </a:solidFill>
                <a:latin typeface="Segoe UI"/>
              </a:rPr>
              <a:t> using collections.deque. Cost is linear in walkable tiles.</a:t>
            </a:r>
          </a:p>
          <a:p>
            <a:pPr algn="l">
              <a:spcAft>
                <a:spcPts val="700"/>
              </a:spcAft>
            </a:pPr>
            <a:endParaRPr sz="1300" b="0">
              <a:solidFill>
                <a:srgbClr val="141828"/>
              </a:solidFill>
              <a:latin typeface="Segoe UI"/>
            </a:endParaRPr>
          </a:p>
          <a:p>
            <a:pPr marL="219456" indent="-219456" algn="l"/>
            <a:r>
              <a:rPr sz="1200" b="1">
                <a:solidFill>
                  <a:srgbClr val="1F4E9C"/>
                </a:solidFill>
              </a:rPr>
              <a:t>▪   </a:t>
            </a:r>
            <a:r>
              <a:rPr sz="1300" b="1">
                <a:solidFill>
                  <a:srgbClr val="141828"/>
                </a:solidFill>
                <a:latin typeface="Segoe UI"/>
              </a:rPr>
              <a:t>Repair, not just detect</a:t>
            </a:r>
            <a:r>
              <a:rPr sz="1300" b="0">
                <a:solidFill>
                  <a:srgbClr val="141828"/>
                </a:solidFill>
                <a:latin typeface="Segoe UI"/>
              </a:rPr>
              <a:t> —  for each orphan, carve a Manhattan path to the nearest reachable tile, then recompute. Commercial games detect and log this; we fix it.</a:t>
            </a:r>
          </a:p>
          <a:p>
            <a:pPr algn="l">
              <a:spcAft>
                <a:spcPts val="700"/>
              </a:spcAft>
            </a:pPr>
            <a:endParaRPr sz="1300" b="0">
              <a:solidFill>
                <a:srgbClr val="141828"/>
              </a:solidFill>
              <a:latin typeface="Segoe UI"/>
            </a:endParaRPr>
          </a:p>
          <a:p>
            <a:pPr marL="219456" indent="-219456" algn="l"/>
            <a:r>
              <a:rPr sz="1200" b="1">
                <a:solidFill>
                  <a:srgbClr val="1F4E9C"/>
                </a:solidFill>
              </a:rPr>
              <a:t>▪   </a:t>
            </a:r>
            <a:r>
              <a:rPr sz="1300" b="1">
                <a:solidFill>
                  <a:srgbClr val="141828"/>
                </a:solidFill>
                <a:latin typeface="Segoe UI"/>
              </a:rPr>
              <a:t>A distance map falls out</a:t>
            </a:r>
            <a:r>
              <a:rPr sz="1300" b="0">
                <a:solidFill>
                  <a:srgbClr val="141828"/>
                </a:solidFill>
                <a:latin typeface="Segoe UI"/>
              </a:rPr>
              <a:t> of the same traversal, which is what makes “furthest from spawn” cheap during placement.</a:t>
            </a:r>
          </a:p>
        </p:txBody>
      </p:sp>
      <p:sp>
        <p:nvSpPr>
          <p:cNvPr id="8" name="Rounded Rectangle 7"/>
          <p:cNvSpPr/>
          <p:nvPr/>
        </p:nvSpPr>
        <p:spPr>
          <a:xfrm>
            <a:off x="7863840" y="4892040"/>
            <a:ext cx="3794760" cy="1143000"/>
          </a:xfrm>
          <a:prstGeom prst="roundRect">
            <a:avLst>
              <a:gd name="adj" fmla="val 8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91440" rIns="109728" bIns="73152" rtlCol="0" anchor="ctr"/>
          <a:lstStyle/>
          <a:p>
            <a:pPr algn="ctr"/>
            <a:r>
              <a:rPr sz="3200" b="1">
                <a:solidFill>
                  <a:srgbClr val="0F7D8C"/>
                </a:solidFill>
                <a:latin typeface="Segoe UI"/>
              </a:rPr>
              <a:t>1.0000</a:t>
            </a:r>
          </a:p>
          <a:p>
            <a:pPr algn="ctr">
              <a:spcBef>
                <a:spcPts val="200"/>
              </a:spcBef>
            </a:pPr>
            <a:r>
              <a:rPr sz="1150">
                <a:solidFill>
                  <a:srgbClr val="141828"/>
                </a:solidFill>
                <a:latin typeface="Segoe UI"/>
              </a:rPr>
              <a:t>reachable_ratio across 30 generated levels
0 orphaned walkable tiles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6. A* Pathfinding</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Two roles, two different questions</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11 / 21</a:t>
            </a:r>
          </a:p>
        </p:txBody>
      </p:sp>
      <p:pic>
        <p:nvPicPr>
          <p:cNvPr id="6" name="Picture 5" descr="fig_5_7_astar_pathfinding_0.0_0.47_0.0_1.0.png"/>
          <p:cNvPicPr>
            <a:picLocks noChangeAspect="1"/>
          </p:cNvPicPr>
          <p:nvPr/>
        </p:nvPicPr>
        <p:blipFill>
          <a:blip r:embed="rId3"/>
          <a:stretch>
            <a:fillRect/>
          </a:stretch>
        </p:blipFill>
        <p:spPr>
          <a:xfrm>
            <a:off x="822960" y="1691640"/>
            <a:ext cx="4795146" cy="3931920"/>
          </a:xfrm>
          <a:prstGeom prst="rect">
            <a:avLst/>
          </a:prstGeom>
        </p:spPr>
      </p:pic>
      <p:sp>
        <p:nvSpPr>
          <p:cNvPr id="7" name="TextBox 6"/>
          <p:cNvSpPr txBox="1"/>
          <p:nvPr/>
        </p:nvSpPr>
        <p:spPr>
          <a:xfrm>
            <a:off x="7635240" y="1737360"/>
            <a:ext cx="4023360" cy="1737360"/>
          </a:xfrm>
          <a:prstGeom prst="rect">
            <a:avLst/>
          </a:prstGeom>
          <a:noFill/>
        </p:spPr>
        <p:txBody>
          <a:bodyPr wrap="square" lIns="18288" tIns="0" rIns="18288" bIns="0">
            <a:spAutoFit/>
          </a:bodyPr>
          <a:lstStyle/>
          <a:p>
            <a:pPr marL="219456" indent="-219456" algn="l"/>
            <a:r>
              <a:rPr sz="1200" b="1">
                <a:solidFill>
                  <a:srgbClr val="1F4E9C"/>
                </a:solidFill>
              </a:rPr>
              <a:t>▪   </a:t>
            </a:r>
            <a:r>
              <a:rPr sz="1300" b="1">
                <a:solidFill>
                  <a:srgbClr val="141828"/>
                </a:solidFill>
                <a:latin typeface="Segoe UI"/>
              </a:rPr>
              <a:t>f(n) = g(n) + h(n)</a:t>
            </a:r>
            <a:r>
              <a:rPr sz="1300" b="0">
                <a:solidFill>
                  <a:srgbClr val="141828"/>
                </a:solidFill>
                <a:latin typeface="Segoe UI"/>
              </a:rPr>
              <a:t>   with h = Manhattan distance, which is admissible on a uniform 4-connected grid — so the path is guaranteed optimal.</a:t>
            </a:r>
          </a:p>
          <a:p>
            <a:pPr marL="219456" indent="-219456" algn="l"/>
            <a:r>
              <a:rPr sz="1200" b="1">
                <a:solidFill>
                  <a:srgbClr val="1F4E9C"/>
                </a:solidFill>
              </a:rPr>
              <a:t>▪   </a:t>
            </a:r>
            <a:r>
              <a:rPr sz="1300" b="1">
                <a:solidFill>
                  <a:srgbClr val="141828"/>
                </a:solidFill>
                <a:latin typeface="Segoe UI"/>
              </a:rPr>
              <a:t>A sequence counter in each heap entry</a:t>
            </a:r>
            <a:r>
              <a:rPr sz="1300" b="0">
                <a:solidFill>
                  <a:srgbClr val="141828"/>
                </a:solidFill>
                <a:latin typeface="Segoe UI"/>
              </a:rPr>
              <a:t> keeps ordering total and deterministic, so the same seed gives the same monster path.</a:t>
            </a:r>
          </a:p>
        </p:txBody>
      </p:sp>
      <p:sp>
        <p:nvSpPr>
          <p:cNvPr id="8" name="Rounded Rectangle 7"/>
          <p:cNvSpPr/>
          <p:nvPr/>
        </p:nvSpPr>
        <p:spPr>
          <a:xfrm>
            <a:off x="7635240" y="3657600"/>
            <a:ext cx="4023360" cy="365760"/>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FFFFFF"/>
                </a:solidFill>
                <a:latin typeface="Segoe UI"/>
              </a:rPr>
              <a:t>Same generated maps, measured</a:t>
            </a:r>
          </a:p>
        </p:txBody>
      </p:sp>
      <p:sp>
        <p:nvSpPr>
          <p:cNvPr id="9" name="Rounded Rectangle 8"/>
          <p:cNvSpPr/>
          <p:nvPr/>
        </p:nvSpPr>
        <p:spPr>
          <a:xfrm>
            <a:off x="7635240" y="4114800"/>
            <a:ext cx="4023360" cy="914400"/>
          </a:xfrm>
          <a:prstGeom prst="roundRect">
            <a:avLst>
              <a:gd name="adj" fmla="val 10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tlCol="0" anchor="ctr"/>
          <a:lstStyle/>
          <a:p>
            <a:pPr algn="ctr"/>
            <a:r>
              <a:rPr sz="1500" b="1">
                <a:solidFill>
                  <a:srgbClr val="0F7D8C"/>
                </a:solidFill>
                <a:latin typeface="Segoe UI"/>
              </a:rPr>
              <a:t>BFS   </a:t>
            </a:r>
            <a:r>
              <a:rPr sz="1150">
                <a:solidFill>
                  <a:srgbClr val="141828"/>
                </a:solidFill>
                <a:latin typeface="Segoe UI"/>
              </a:rPr>
              <a:t>Which tiles are reachable, and how far?</a:t>
            </a:r>
          </a:p>
          <a:p>
            <a:pPr>
              <a:spcBef>
                <a:spcPts val="300"/>
              </a:spcBef>
            </a:pPr>
            <a:r>
              <a:rPr sz="1100">
                <a:solidFill>
                  <a:srgbClr val="5A6076"/>
                </a:solidFill>
                <a:latin typeface="Segoe UI"/>
              </a:rPr>
              <a:t>2.1 – 2.7 ms   ·   ~2 350 tiles   —   Validation, repair, distance map</a:t>
            </a:r>
          </a:p>
        </p:txBody>
      </p:sp>
      <p:sp>
        <p:nvSpPr>
          <p:cNvPr id="10" name="Rounded Rectangle 9"/>
          <p:cNvSpPr/>
          <p:nvPr/>
        </p:nvSpPr>
        <p:spPr>
          <a:xfrm>
            <a:off x="7635240" y="5138928"/>
            <a:ext cx="4023360" cy="914400"/>
          </a:xfrm>
          <a:prstGeom prst="roundRect">
            <a:avLst>
              <a:gd name="adj" fmla="val 10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tlCol="0" anchor="ctr"/>
          <a:lstStyle/>
          <a:p>
            <a:pPr algn="ctr"/>
            <a:r>
              <a:rPr sz="1500" b="1">
                <a:solidFill>
                  <a:srgbClr val="1F4E9C"/>
                </a:solidFill>
                <a:latin typeface="Segoe UI"/>
              </a:rPr>
              <a:t>A*   </a:t>
            </a:r>
            <a:r>
              <a:rPr sz="1150">
                <a:solidFill>
                  <a:srgbClr val="141828"/>
                </a:solidFill>
                <a:latin typeface="Segoe UI"/>
              </a:rPr>
              <a:t>What is the shortest path to this one goal?</a:t>
            </a:r>
          </a:p>
          <a:p>
            <a:pPr>
              <a:spcBef>
                <a:spcPts val="300"/>
              </a:spcBef>
            </a:pPr>
            <a:r>
              <a:rPr sz="1100">
                <a:solidFill>
                  <a:srgbClr val="5A6076"/>
                </a:solidFill>
                <a:latin typeface="Segoe UI"/>
              </a:rPr>
              <a:t>0.02 – 0.21 ms   ·   per goal   —   Monster chase, placement gate</a:t>
            </a:r>
          </a:p>
        </p:txBody>
      </p:sp>
      <p:sp>
        <p:nvSpPr>
          <p:cNvPr id="11" name="TextBox 10"/>
          <p:cNvSpPr txBox="1"/>
          <p:nvPr/>
        </p:nvSpPr>
        <p:spPr>
          <a:xfrm>
            <a:off x="502920" y="6309360"/>
            <a:ext cx="9601200" cy="292608"/>
          </a:xfrm>
          <a:prstGeom prst="rect">
            <a:avLst/>
          </a:prstGeom>
          <a:noFill/>
        </p:spPr>
        <p:txBody>
          <a:bodyPr wrap="none" lIns="0" tIns="0" rIns="0" bIns="0">
            <a:spAutoFit/>
          </a:bodyPr>
          <a:lstStyle/>
          <a:p>
            <a:r>
              <a:rPr sz="1050" i="1">
                <a:solidFill>
                  <a:srgbClr val="5A6076"/>
                </a:solidFill>
                <a:latin typeface="Segoe UI"/>
              </a:rPr>
              <a:t>Using BFS where A* was needed, or A* where BFS was needed, would be incorrect — each answers a different question.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7. Decision Tree — Personalisation</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The map's difficulty tracks the player</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12 / 21</a:t>
            </a:r>
          </a:p>
        </p:txBody>
      </p:sp>
      <p:sp>
        <p:nvSpPr>
          <p:cNvPr id="6" name="TextBox 5"/>
          <p:cNvSpPr txBox="1"/>
          <p:nvPr/>
        </p:nvSpPr>
        <p:spPr>
          <a:xfrm>
            <a:off x="777240" y="1554480"/>
            <a:ext cx="5029200" cy="365760"/>
          </a:xfrm>
          <a:prstGeom prst="rect">
            <a:avLst/>
          </a:prstGeom>
          <a:noFill/>
        </p:spPr>
        <p:txBody>
          <a:bodyPr wrap="none">
            <a:spAutoFit/>
          </a:bodyPr>
          <a:lstStyle/>
          <a:p>
            <a:r>
              <a:rPr sz="1500" b="1">
                <a:solidFill>
                  <a:srgbClr val="0F7D8C"/>
                </a:solidFill>
                <a:latin typeface="Consolas"/>
              </a:rPr>
              <a:t>score_candidate(metrics, profile)</a:t>
            </a:r>
          </a:p>
        </p:txBody>
      </p:sp>
      <p:sp>
        <p:nvSpPr>
          <p:cNvPr id="7" name="Rectangle 6"/>
          <p:cNvSpPr/>
          <p:nvPr/>
        </p:nvSpPr>
        <p:spPr>
          <a:xfrm>
            <a:off x="777240" y="1920240"/>
            <a:ext cx="5029200" cy="2331720"/>
          </a:xfrm>
          <a:prstGeom prst="rect">
            <a:avLst/>
          </a:prstGeom>
          <a:solidFill>
            <a:srgbClr val="F4F6FB"/>
          </a:solidFill>
          <a:ln w="12700">
            <a:solidFill>
              <a:srgbClr val="C8D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029968"/>
            <a:ext cx="4800600" cy="2148840"/>
          </a:xfrm>
          <a:prstGeom prst="rect">
            <a:avLst/>
          </a:prstGeom>
          <a:noFill/>
        </p:spPr>
        <p:txBody>
          <a:bodyPr wrap="none" lIns="0" tIns="0" rIns="0" bIns="0">
            <a:spAutoFit/>
          </a:bodyPr>
          <a:lstStyle/>
          <a:p>
            <a:pPr>
              <a:lnSpc>
                <a:spcPct val="100000"/>
              </a:lnSpc>
              <a:spcAft>
                <a:spcPts val="0"/>
              </a:spcAft>
            </a:pPr>
            <a:r>
              <a:rPr sz="1000">
                <a:solidFill>
                  <a:srgbClr val="0F7D8C"/>
                </a:solidFill>
                <a:latin typeface="Consolas"/>
              </a:rPr>
              <a:t>if level &lt;= 2:            # new player</a:t>
            </a:r>
          </a:p>
          <a:p>
            <a:pPr>
              <a:lnSpc>
                <a:spcPct val="100000"/>
              </a:lnSpc>
              <a:spcAft>
                <a:spcPts val="0"/>
              </a:spcAft>
            </a:pPr>
            <a:r>
              <a:rPr sz="1000">
                <a:solidFill>
                  <a:srgbClr val="0F7D8C"/>
                </a:solidFill>
                <a:latin typeface="Consolas"/>
              </a:rPr>
              <a:t>    return reachable_ratio * 4.5 \</a:t>
            </a:r>
          </a:p>
          <a:p>
            <a:pPr>
              <a:lnSpc>
                <a:spcPct val="100000"/>
              </a:lnSpc>
              <a:spcAft>
                <a:spcPts val="0"/>
              </a:spcAft>
            </a:pPr>
            <a:r>
              <a:rPr sz="1000">
                <a:solidFill>
                  <a:srgbClr val="141828"/>
                </a:solidFill>
                <a:latin typeface="Consolas"/>
              </a:rPr>
              <a:t>         + (1.0 - abs(open - 0.42)) * 2.0 \</a:t>
            </a:r>
          </a:p>
          <a:p>
            <a:pPr>
              <a:lnSpc>
                <a:spcPct val="100000"/>
              </a:lnSpc>
              <a:spcAft>
                <a:spcPts val="0"/>
              </a:spcAft>
            </a:pPr>
            <a:r>
              <a:rPr sz="1000">
                <a:solidFill>
                  <a:srgbClr val="141828"/>
                </a:solidFill>
                <a:latin typeface="Consolas"/>
              </a:rPr>
              <a:t>         - reachable_count / 1500.0</a:t>
            </a:r>
          </a:p>
          <a:p>
            <a:pPr>
              <a:lnSpc>
                <a:spcPct val="100000"/>
              </a:lnSpc>
              <a:spcAft>
                <a:spcPts val="0"/>
              </a:spcAft>
            </a:pPr>
            <a:r>
              <a:rPr sz="1000">
                <a:solidFill>
                  <a:srgbClr val="FFFFFF"/>
                </a:solidFill>
                <a:latin typeface="Consolas"/>
              </a:rPr>
              <a:t> </a:t>
            </a:r>
          </a:p>
          <a:p>
            <a:pPr>
              <a:lnSpc>
                <a:spcPct val="100000"/>
              </a:lnSpc>
              <a:spcAft>
                <a:spcPts val="0"/>
              </a:spcAft>
            </a:pPr>
            <a:r>
              <a:rPr sz="1000">
                <a:solidFill>
                  <a:srgbClr val="0F7D8C"/>
                </a:solidFill>
                <a:latin typeface="Consolas"/>
              </a:rPr>
              <a:t>if level &lt;= 5:            # regular</a:t>
            </a:r>
          </a:p>
          <a:p>
            <a:pPr>
              <a:lnSpc>
                <a:spcPct val="100000"/>
              </a:lnSpc>
              <a:spcAft>
                <a:spcPts val="0"/>
              </a:spcAft>
            </a:pPr>
            <a:r>
              <a:rPr sz="1000">
                <a:solidFill>
                  <a:srgbClr val="0F7D8C"/>
                </a:solidFill>
                <a:latin typeface="Consolas"/>
              </a:rPr>
              <a:t>    return reachable_ratio * 4.0 \</a:t>
            </a:r>
          </a:p>
          <a:p>
            <a:pPr>
              <a:lnSpc>
                <a:spcPct val="100000"/>
              </a:lnSpc>
              <a:spcAft>
                <a:spcPts val="0"/>
              </a:spcAft>
            </a:pPr>
            <a:r>
              <a:rPr sz="1000">
                <a:solidFill>
                  <a:srgbClr val="141828"/>
                </a:solidFill>
                <a:latin typeface="Consolas"/>
              </a:rPr>
              <a:t>         + (1.0 - abs(open - 0.52)) * 2.5 \</a:t>
            </a:r>
          </a:p>
          <a:p>
            <a:pPr>
              <a:lnSpc>
                <a:spcPct val="100000"/>
              </a:lnSpc>
              <a:spcAft>
                <a:spcPts val="0"/>
              </a:spcAft>
            </a:pPr>
            <a:r>
              <a:rPr sz="1000">
                <a:solidFill>
                  <a:srgbClr val="141828"/>
                </a:solidFill>
                <a:latin typeface="Consolas"/>
              </a:rPr>
              <a:t>         + (kill_total + skill_total) / 50.0</a:t>
            </a:r>
          </a:p>
          <a:p>
            <a:pPr>
              <a:lnSpc>
                <a:spcPct val="100000"/>
              </a:lnSpc>
              <a:spcAft>
                <a:spcPts val="0"/>
              </a:spcAft>
            </a:pPr>
            <a:r>
              <a:rPr sz="1000">
                <a:solidFill>
                  <a:srgbClr val="FFFFFF"/>
                </a:solidFill>
                <a:latin typeface="Consolas"/>
              </a:rPr>
              <a:t> </a:t>
            </a:r>
          </a:p>
          <a:p>
            <a:pPr>
              <a:lnSpc>
                <a:spcPct val="100000"/>
              </a:lnSpc>
              <a:spcAft>
                <a:spcPts val="0"/>
              </a:spcAft>
            </a:pPr>
            <a:r>
              <a:rPr sz="1000">
                <a:solidFill>
                  <a:srgbClr val="0F7D8C"/>
                </a:solidFill>
                <a:latin typeface="Consolas"/>
              </a:rPr>
              <a:t>return reachable_ratio * 3.5 \</a:t>
            </a:r>
          </a:p>
          <a:p>
            <a:pPr>
              <a:lnSpc>
                <a:spcPct val="100000"/>
              </a:lnSpc>
              <a:spcAft>
                <a:spcPts val="0"/>
              </a:spcAft>
            </a:pPr>
            <a:r>
              <a:rPr sz="1000">
                <a:solidFill>
                  <a:srgbClr val="141828"/>
                </a:solidFill>
                <a:latin typeface="Consolas"/>
              </a:rPr>
              <a:t>     + (1.0 - abs(open - 0.62)) * 2.5 \</a:t>
            </a:r>
          </a:p>
          <a:p>
            <a:pPr>
              <a:lnSpc>
                <a:spcPct val="100000"/>
              </a:lnSpc>
              <a:spcAft>
                <a:spcPts val="0"/>
              </a:spcAft>
            </a:pPr>
            <a:r>
              <a:rPr sz="1000">
                <a:solidFill>
                  <a:srgbClr val="141828"/>
                </a:solidFill>
                <a:latin typeface="Consolas"/>
              </a:rPr>
              <a:t>     + reachable_count / 1200.0 \</a:t>
            </a:r>
          </a:p>
          <a:p>
            <a:pPr>
              <a:lnSpc>
                <a:spcPct val="100000"/>
              </a:lnSpc>
              <a:spcAft>
                <a:spcPts val="0"/>
              </a:spcAft>
            </a:pPr>
            <a:r>
              <a:rPr sz="1000">
                <a:solidFill>
                  <a:srgbClr val="141828"/>
                </a:solidFill>
                <a:latin typeface="Consolas"/>
              </a:rPr>
              <a:t>     + (kill_total + skill_total) / 60.0</a:t>
            </a:r>
          </a:p>
        </p:txBody>
      </p:sp>
      <p:sp>
        <p:nvSpPr>
          <p:cNvPr id="9" name="TextBox 8"/>
          <p:cNvSpPr txBox="1"/>
          <p:nvPr/>
        </p:nvSpPr>
        <p:spPr>
          <a:xfrm>
            <a:off x="777240" y="4389120"/>
            <a:ext cx="5029200" cy="1828800"/>
          </a:xfrm>
          <a:prstGeom prst="rect">
            <a:avLst/>
          </a:prstGeom>
          <a:noFill/>
        </p:spPr>
        <p:txBody>
          <a:bodyPr wrap="square" lIns="18288" tIns="0" rIns="18288" bIns="0">
            <a:spAutoFit/>
          </a:bodyPr>
          <a:lstStyle/>
          <a:p>
            <a:pPr marL="219456" indent="-219456" algn="l"/>
            <a:r>
              <a:rPr sz="1150" b="1">
                <a:solidFill>
                  <a:srgbClr val="1F4E9C"/>
                </a:solidFill>
              </a:rPr>
              <a:t>▪   </a:t>
            </a:r>
            <a:r>
              <a:rPr sz="1250" b="1">
                <a:solidFill>
                  <a:srgbClr val="141828"/>
                </a:solidFill>
                <a:latin typeface="Segoe UI"/>
              </a:rPr>
              <a:t>reachable_ratio always carries the largest weight (3.5 – 4.5)</a:t>
            </a:r>
            <a:r>
              <a:rPr sz="1250" b="0">
                <a:solidFill>
                  <a:srgbClr val="141828"/>
                </a:solidFill>
                <a:latin typeface="Segoe UI"/>
              </a:rPr>
              <a:t> — a playable map always outranks a well-proportioned but unreachable one.</a:t>
            </a:r>
          </a:p>
          <a:p>
            <a:pPr marL="219456" indent="-219456" algn="l"/>
            <a:r>
              <a:rPr sz="1150" b="1">
                <a:solidFill>
                  <a:srgbClr val="1F4E9C"/>
                </a:solidFill>
              </a:rPr>
              <a:t>▪   </a:t>
            </a:r>
            <a:r>
              <a:rPr sz="1250" b="1">
                <a:solidFill>
                  <a:srgbClr val="141828"/>
                </a:solidFill>
                <a:latin typeface="Segoe UI"/>
              </a:rPr>
              <a:t>(1.0 - abs(open - target)) is a plateau</a:t>
            </a:r>
            <a:r>
              <a:rPr sz="1250" b="0">
                <a:solidFill>
                  <a:srgbClr val="141828"/>
                </a:solidFill>
                <a:latin typeface="Segoe UI"/>
              </a:rPr>
              <a:t> — maximal at the target, falling off linearly, so near-misses are never rejected outright.</a:t>
            </a:r>
          </a:p>
        </p:txBody>
      </p:sp>
      <p:pic>
        <p:nvPicPr>
          <p:cNvPr id="10" name="Picture 9" descr="fig_5_10_personalisation.png"/>
          <p:cNvPicPr>
            <a:picLocks noChangeAspect="1"/>
          </p:cNvPicPr>
          <p:nvPr/>
        </p:nvPicPr>
        <p:blipFill>
          <a:blip r:embed="rId3"/>
          <a:stretch>
            <a:fillRect/>
          </a:stretch>
        </p:blipFill>
        <p:spPr>
          <a:xfrm>
            <a:off x="6126480" y="1737360"/>
            <a:ext cx="5486400" cy="2622884"/>
          </a:xfrm>
          <a:prstGeom prst="rect">
            <a:avLst/>
          </a:prstGeom>
        </p:spPr>
      </p:pic>
      <p:sp>
        <p:nvSpPr>
          <p:cNvPr id="11" name="Rounded Rectangle 10"/>
          <p:cNvSpPr/>
          <p:nvPr/>
        </p:nvSpPr>
        <p:spPr>
          <a:xfrm>
            <a:off x="6126480" y="4892040"/>
            <a:ext cx="5486400" cy="114300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0">
                <a:solidFill>
                  <a:srgbClr val="141828"/>
                </a:solidFill>
                <a:latin typeface="Segoe UI"/>
              </a:rPr>
              <a:t>Level 1–2 target 0.42  →  observed 0.296
Level 3–5 target 0.52  →  observed 0.358
Level 6+   target 0.62  →  observed 0.359      (20 runs each)</a:t>
            </a:r>
          </a:p>
        </p:txBody>
      </p:sp>
      <p:sp>
        <p:nvSpPr>
          <p:cNvPr id="12" name="Rounded Rectangle 11"/>
          <p:cNvSpPr/>
          <p:nvPr/>
        </p:nvSpPr>
        <p:spPr>
          <a:xfrm>
            <a:off x="6126480" y="4224528"/>
            <a:ext cx="5486400" cy="566928"/>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50" b="1">
                <a:solidFill>
                  <a:srgbClr val="141828"/>
                </a:solidFill>
                <a:latin typeface="Segoe UI"/>
              </a:rPr>
              <a:t>A 21% wider dungeon for an experienced player than for a new one — measured, not assumed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8. Association Rule Mining</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The game learns how you actually play</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13 / 21</a:t>
            </a:r>
          </a:p>
        </p:txBody>
      </p:sp>
      <p:sp>
        <p:nvSpPr>
          <p:cNvPr id="6" name="TextBox 5"/>
          <p:cNvSpPr txBox="1"/>
          <p:nvPr/>
        </p:nvSpPr>
        <p:spPr>
          <a:xfrm>
            <a:off x="777240" y="1627632"/>
            <a:ext cx="5440680" cy="3657600"/>
          </a:xfrm>
          <a:prstGeom prst="rect">
            <a:avLst/>
          </a:prstGeom>
          <a:noFill/>
        </p:spPr>
        <p:txBody>
          <a:bodyPr wrap="square" lIns="18288" tIns="0" rIns="18288" bIns="0">
            <a:spAutoFit/>
          </a:bodyPr>
          <a:lstStyle/>
          <a:p>
            <a:pPr marL="219456" indent="-219456" algn="l"/>
            <a:r>
              <a:rPr sz="1200" b="1">
                <a:solidFill>
                  <a:srgbClr val="1F4E9C"/>
                </a:solidFill>
              </a:rPr>
              <a:t>▪   </a:t>
            </a:r>
            <a:r>
              <a:rPr sz="1300" b="1">
                <a:solidFill>
                  <a:srgbClr val="141828"/>
                </a:solidFill>
                <a:latin typeface="Segoe UI"/>
              </a:rPr>
              <a:t>Each run becomes a transaction:  </a:t>
            </a:r>
            <a:r>
              <a:rPr sz="1300" b="0">
                <a:solidFill>
                  <a:srgbClr val="141828"/>
                </a:solidFill>
                <a:latin typeface="Segoe UI"/>
              </a:rPr>
              <a:t>outcome:clear / outcome:loss, performance:high / performance:low, plus one item per object collected.</a:t>
            </a:r>
          </a:p>
          <a:p>
            <a:pPr marL="219456" indent="-219456" algn="l"/>
            <a:r>
              <a:rPr sz="1200" b="1">
                <a:solidFill>
                  <a:srgbClr val="1F4E9C"/>
                </a:solidFill>
              </a:rPr>
              <a:t>▪   </a:t>
            </a:r>
            <a:r>
              <a:rPr sz="1300" b="1">
                <a:solidFill>
                  <a:srgbClr val="141828"/>
                </a:solidFill>
                <a:latin typeface="Segoe UI"/>
              </a:rPr>
              <a:t>Two rules, mined over the last five runs</a:t>
            </a:r>
          </a:p>
          <a:p>
            <a:pPr marL="219456" indent="-219456" algn="l"/>
            <a:r>
              <a:rPr sz="1200" b="1">
                <a:solidFill>
                  <a:srgbClr val="1F4E9C"/>
                </a:solidFill>
              </a:rPr>
              <a:t>▪   </a:t>
            </a:r>
            <a:r>
              <a:rPr sz="1300" b="1">
                <a:solidFill>
                  <a:srgbClr val="141828"/>
                </a:solidFill>
                <a:latin typeface="Segoe UI"/>
              </a:rPr>
              <a:t>performance:high  →  outcome:clear</a:t>
            </a:r>
            <a:r>
              <a:rPr sz="1300" b="0">
                <a:solidFill>
                  <a:srgbClr val="141828"/>
                </a:solidFill>
                <a:latin typeface="Segoe UI"/>
              </a:rPr>
              <a:t>   confidence 1.00 on a winning streak</a:t>
            </a:r>
          </a:p>
          <a:p>
            <a:pPr marL="219456" indent="-219456" algn="l"/>
            <a:r>
              <a:rPr sz="1200" b="1">
                <a:solidFill>
                  <a:srgbClr val="1F4E9C"/>
                </a:solidFill>
              </a:rPr>
              <a:t>▪   </a:t>
            </a:r>
            <a:r>
              <a:rPr sz="1300" b="1">
                <a:solidFill>
                  <a:srgbClr val="141828"/>
                </a:solidFill>
                <a:latin typeface="Segoe UI"/>
              </a:rPr>
              <a:t>performance:low  →  outcome:loss</a:t>
            </a:r>
            <a:r>
              <a:rPr sz="1300" b="0">
                <a:solidFill>
                  <a:srgbClr val="141828"/>
                </a:solidFill>
                <a:latin typeface="Segoe UI"/>
              </a:rPr>
              <a:t>   confidence 1.00 on a losing streak</a:t>
            </a:r>
          </a:p>
          <a:p>
            <a:pPr marL="219456" indent="-219456" algn="l"/>
            <a:r>
              <a:rPr sz="1200" b="1">
                <a:solidFill>
                  <a:srgbClr val="1F4E9C"/>
                </a:solidFill>
              </a:rPr>
              <a:t>▪   </a:t>
            </a:r>
            <a:r>
              <a:rPr sz="1300" b="1">
                <a:solidFill>
                  <a:srgbClr val="141828"/>
                </a:solidFill>
                <a:latin typeface="Segoe UI"/>
              </a:rPr>
              <a:t>Then the monster count is adjusted</a:t>
            </a:r>
          </a:p>
          <a:p>
            <a:pPr marL="219456" indent="-219456" algn="l"/>
            <a:r>
              <a:rPr sz="1200" b="1">
                <a:solidFill>
                  <a:srgbClr val="1F4E9C"/>
                </a:solidFill>
              </a:rPr>
              <a:t>▪   </a:t>
            </a:r>
            <a:r>
              <a:rPr sz="1300" b="1">
                <a:solidFill>
                  <a:srgbClr val="141828"/>
                </a:solidFill>
                <a:latin typeface="Segoe UI"/>
              </a:rPr>
              <a:t>losing streak ≥ 2 and low_kill_loss ≥ 0.5</a:t>
            </a:r>
            <a:r>
              <a:rPr sz="1300" b="0">
                <a:solidFill>
                  <a:srgbClr val="141828"/>
                </a:solidFill>
                <a:latin typeface="Segoe UI"/>
              </a:rPr>
              <a:t>  →  × 1.35  (+0.05 per extra loss, capped × 1.55)</a:t>
            </a:r>
          </a:p>
          <a:p>
            <a:pPr marL="219456" indent="-219456" algn="l"/>
            <a:r>
              <a:rPr sz="1200" b="1">
                <a:solidFill>
                  <a:srgbClr val="1F4E9C"/>
                </a:solidFill>
              </a:rPr>
              <a:t>▪   </a:t>
            </a:r>
            <a:r>
              <a:rPr sz="1300" b="1">
                <a:solidFill>
                  <a:srgbClr val="141828"/>
                </a:solidFill>
                <a:latin typeface="Segoe UI"/>
              </a:rPr>
              <a:t>high_kill_clear ≥ 0.5</a:t>
            </a:r>
            <a:r>
              <a:rPr sz="1300" b="0">
                <a:solidFill>
                  <a:srgbClr val="141828"/>
                </a:solidFill>
                <a:latin typeface="Segoe UI"/>
              </a:rPr>
              <a:t>  →  × 1.15</a:t>
            </a:r>
          </a:p>
          <a:p>
            <a:pPr marL="219456" indent="-219456" algn="l"/>
            <a:r>
              <a:rPr sz="1200" b="1">
                <a:solidFill>
                  <a:srgbClr val="1F4E9C"/>
                </a:solidFill>
              </a:rPr>
              <a:t>▪   </a:t>
            </a:r>
            <a:r>
              <a:rPr sz="1300" b="1">
                <a:solidFill>
                  <a:srgbClr val="141828"/>
                </a:solidFill>
                <a:latin typeface="Segoe UI"/>
              </a:rPr>
              <a:t>otherwise</a:t>
            </a:r>
            <a:r>
              <a:rPr sz="1300" b="0">
                <a:solidFill>
                  <a:srgbClr val="141828"/>
                </a:solidFill>
                <a:latin typeface="Segoe UI"/>
              </a:rPr>
              <a:t>  →  base limit of 12</a:t>
            </a:r>
          </a:p>
          <a:p>
            <a:pPr marL="219456" indent="-219456" algn="l"/>
            <a:r>
              <a:rPr sz="1200" b="1">
                <a:solidFill>
                  <a:srgbClr val="1F4E9C"/>
                </a:solidFill>
              </a:rPr>
              <a:t>▪   </a:t>
            </a:r>
            <a:r>
              <a:rPr sz="1300" b="1">
                <a:solidFill>
                  <a:srgbClr val="141828"/>
                </a:solidFill>
                <a:latin typeface="Segoe UI"/>
              </a:rPr>
              <a:t>Always clamped to 1 – 18</a:t>
            </a:r>
            <a:r>
              <a:rPr sz="1300" b="0">
                <a:solidFill>
                  <a:srgbClr val="141828"/>
                </a:solidFill>
                <a:latin typeface="Segoe UI"/>
              </a:rPr>
              <a:t>, so no history can produce a trivial or impossible level.</a:t>
            </a:r>
          </a:p>
        </p:txBody>
      </p:sp>
      <p:sp>
        <p:nvSpPr>
          <p:cNvPr id="7" name="Rounded Rectangle 6"/>
          <p:cNvSpPr/>
          <p:nvPr/>
        </p:nvSpPr>
        <p:spPr>
          <a:xfrm>
            <a:off x="6537960" y="1600200"/>
            <a:ext cx="4892040" cy="365760"/>
          </a:xfrm>
          <a:prstGeom prst="roundRect">
            <a:avLst>
              <a:gd name="adj" fmla="val 12000"/>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FFFFFF"/>
                </a:solidFill>
                <a:latin typeface="Segoe UI"/>
              </a:rPr>
              <a:t>Mined rules → next level's monster count</a:t>
            </a:r>
          </a:p>
        </p:txBody>
      </p:sp>
      <p:sp>
        <p:nvSpPr>
          <p:cNvPr id="8" name="Rectangle 7"/>
          <p:cNvSpPr/>
          <p:nvPr/>
        </p:nvSpPr>
        <p:spPr>
          <a:xfrm>
            <a:off x="6537960" y="2057400"/>
            <a:ext cx="1874519" cy="384048"/>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1">
                <a:solidFill>
                  <a:srgbClr val="FFFFFF"/>
                </a:solidFill>
                <a:latin typeface="Segoe UI"/>
              </a:rPr>
              <a:t>History</a:t>
            </a:r>
          </a:p>
        </p:txBody>
      </p:sp>
      <p:sp>
        <p:nvSpPr>
          <p:cNvPr id="9" name="Rectangle 8"/>
          <p:cNvSpPr/>
          <p:nvPr/>
        </p:nvSpPr>
        <p:spPr>
          <a:xfrm>
            <a:off x="8412480" y="2057400"/>
            <a:ext cx="1874519" cy="384048"/>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1">
                <a:solidFill>
                  <a:srgbClr val="FFFFFF"/>
                </a:solidFill>
                <a:latin typeface="Segoe UI"/>
              </a:rPr>
              <a:t>Rule</a:t>
            </a:r>
          </a:p>
        </p:txBody>
      </p:sp>
      <p:sp>
        <p:nvSpPr>
          <p:cNvPr id="10" name="Rectangle 9"/>
          <p:cNvSpPr/>
          <p:nvPr/>
        </p:nvSpPr>
        <p:spPr>
          <a:xfrm>
            <a:off x="10287000" y="2057400"/>
            <a:ext cx="1143000" cy="384048"/>
          </a:xfrm>
          <a:prstGeom prst="rect">
            <a:avLst/>
          </a:prstGeom>
          <a:solidFill>
            <a:srgbClr val="1F4E9C"/>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ctr"/>
            <a:r>
              <a:rPr sz="1100" b="1">
                <a:solidFill>
                  <a:srgbClr val="FFFFFF"/>
                </a:solidFill>
                <a:latin typeface="Segoe UI"/>
              </a:rPr>
              <a:t>Limit</a:t>
            </a:r>
          </a:p>
        </p:txBody>
      </p:sp>
      <p:sp>
        <p:nvSpPr>
          <p:cNvPr id="11" name="Rectangle 10"/>
          <p:cNvSpPr/>
          <p:nvPr/>
        </p:nvSpPr>
        <p:spPr>
          <a:xfrm>
            <a:off x="6537960" y="2441448"/>
            <a:ext cx="1874519"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No history</a:t>
            </a:r>
          </a:p>
        </p:txBody>
      </p:sp>
      <p:sp>
        <p:nvSpPr>
          <p:cNvPr id="12" name="Rectangle 11"/>
          <p:cNvSpPr/>
          <p:nvPr/>
        </p:nvSpPr>
        <p:spPr>
          <a:xfrm>
            <a:off x="8412480" y="2441448"/>
            <a:ext cx="1874519"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a:t>
            </a:r>
          </a:p>
        </p:txBody>
      </p:sp>
      <p:sp>
        <p:nvSpPr>
          <p:cNvPr id="13" name="Rectangle 12"/>
          <p:cNvSpPr/>
          <p:nvPr/>
        </p:nvSpPr>
        <p:spPr>
          <a:xfrm>
            <a:off x="10287000" y="2441448"/>
            <a:ext cx="1143000"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ctr"/>
            <a:r>
              <a:rPr sz="1100" b="1">
                <a:solidFill>
                  <a:srgbClr val="141828"/>
                </a:solidFill>
                <a:latin typeface="Segoe UI"/>
              </a:rPr>
              <a:t>12</a:t>
            </a:r>
          </a:p>
        </p:txBody>
      </p:sp>
      <p:sp>
        <p:nvSpPr>
          <p:cNvPr id="14" name="Rectangle 13"/>
          <p:cNvSpPr/>
          <p:nvPr/>
        </p:nvSpPr>
        <p:spPr>
          <a:xfrm>
            <a:off x="6537960" y="2825496"/>
            <a:ext cx="1874519"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3 losses, 3 kills</a:t>
            </a:r>
          </a:p>
        </p:txBody>
      </p:sp>
      <p:sp>
        <p:nvSpPr>
          <p:cNvPr id="15" name="Rectangle 14"/>
          <p:cNvSpPr/>
          <p:nvPr/>
        </p:nvSpPr>
        <p:spPr>
          <a:xfrm>
            <a:off x="8412480" y="2825496"/>
            <a:ext cx="1874519"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low_kill_loss 1.00</a:t>
            </a:r>
          </a:p>
        </p:txBody>
      </p:sp>
      <p:sp>
        <p:nvSpPr>
          <p:cNvPr id="16" name="Rectangle 15"/>
          <p:cNvSpPr/>
          <p:nvPr/>
        </p:nvSpPr>
        <p:spPr>
          <a:xfrm>
            <a:off x="10287000" y="2825496"/>
            <a:ext cx="1143000"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ctr"/>
            <a:r>
              <a:rPr sz="1100" b="1">
                <a:solidFill>
                  <a:srgbClr val="B8531F"/>
                </a:solidFill>
                <a:latin typeface="Segoe UI"/>
              </a:rPr>
              <a:t>17</a:t>
            </a:r>
          </a:p>
        </p:txBody>
      </p:sp>
      <p:sp>
        <p:nvSpPr>
          <p:cNvPr id="17" name="Rectangle 16"/>
          <p:cNvSpPr/>
          <p:nvPr/>
        </p:nvSpPr>
        <p:spPr>
          <a:xfrm>
            <a:off x="6537960" y="3209544"/>
            <a:ext cx="1874519"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3 clears, 14 kills</a:t>
            </a:r>
          </a:p>
        </p:txBody>
      </p:sp>
      <p:sp>
        <p:nvSpPr>
          <p:cNvPr id="18" name="Rectangle 17"/>
          <p:cNvSpPr/>
          <p:nvPr/>
        </p:nvSpPr>
        <p:spPr>
          <a:xfrm>
            <a:off x="8412480" y="3209544"/>
            <a:ext cx="1874519"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high_kill_clear 1.00</a:t>
            </a:r>
          </a:p>
        </p:txBody>
      </p:sp>
      <p:sp>
        <p:nvSpPr>
          <p:cNvPr id="19" name="Rectangle 18"/>
          <p:cNvSpPr/>
          <p:nvPr/>
        </p:nvSpPr>
        <p:spPr>
          <a:xfrm>
            <a:off x="10287000" y="3209544"/>
            <a:ext cx="1143000" cy="384048"/>
          </a:xfrm>
          <a:prstGeom prst="rect">
            <a:avLst/>
          </a:prstGeom>
          <a:solidFill>
            <a:srgbClr val="EEF2FB"/>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ctr"/>
            <a:r>
              <a:rPr sz="1100" b="1">
                <a:solidFill>
                  <a:srgbClr val="0F7D8C"/>
                </a:solidFill>
                <a:latin typeface="Segoe UI"/>
              </a:rPr>
              <a:t>14</a:t>
            </a:r>
          </a:p>
        </p:txBody>
      </p:sp>
      <p:sp>
        <p:nvSpPr>
          <p:cNvPr id="20" name="Rectangle 19"/>
          <p:cNvSpPr/>
          <p:nvPr/>
        </p:nvSpPr>
        <p:spPr>
          <a:xfrm>
            <a:off x="6537960" y="3593591"/>
            <a:ext cx="1874519"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Mixed results</a:t>
            </a:r>
          </a:p>
        </p:txBody>
      </p:sp>
      <p:sp>
        <p:nvSpPr>
          <p:cNvPr id="21" name="Rectangle 20"/>
          <p:cNvSpPr/>
          <p:nvPr/>
        </p:nvSpPr>
        <p:spPr>
          <a:xfrm>
            <a:off x="8412480" y="3593591"/>
            <a:ext cx="1874519"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l"/>
            <a:r>
              <a:rPr sz="1100" b="0">
                <a:solidFill>
                  <a:srgbClr val="141828"/>
                </a:solidFill>
                <a:latin typeface="Segoe UI"/>
              </a:rPr>
              <a:t>none ≥ 0.50</a:t>
            </a:r>
          </a:p>
        </p:txBody>
      </p:sp>
      <p:sp>
        <p:nvSpPr>
          <p:cNvPr id="22" name="Rectangle 21"/>
          <p:cNvSpPr/>
          <p:nvPr/>
        </p:nvSpPr>
        <p:spPr>
          <a:xfrm>
            <a:off x="10287000" y="3593591"/>
            <a:ext cx="1143000" cy="384048"/>
          </a:xfrm>
          <a:prstGeom prst="rect">
            <a:avLst/>
          </a:prstGeom>
          <a:solidFill>
            <a:srgbClr val="FFFFFF"/>
          </a:solidFill>
          <a:ln w="9525">
            <a:solidFill>
              <a:srgbClr val="C8D0E4"/>
            </a:solidFill>
          </a:ln>
          <a:effectLst/>
        </p:spPr>
        <p:style>
          <a:lnRef idx="1">
            <a:schemeClr val="accent1"/>
          </a:lnRef>
          <a:fillRef idx="3">
            <a:schemeClr val="accent1"/>
          </a:fillRef>
          <a:effectRef idx="2">
            <a:schemeClr val="accent1"/>
          </a:effectRef>
          <a:fontRef idx="minor">
            <a:schemeClr val="lt1"/>
          </a:fontRef>
        </p:style>
        <p:txBody>
          <a:bodyPr wrap="square" lIns="54864" tIns="0" rIns="36576" bIns="0" rtlCol="0" anchor="ctr"/>
          <a:lstStyle/>
          <a:p>
            <a:pPr algn="ctr"/>
            <a:r>
              <a:rPr sz="1100" b="1">
                <a:solidFill>
                  <a:srgbClr val="141828"/>
                </a:solidFill>
                <a:latin typeface="Segoe UI"/>
              </a:rPr>
              <a:t>12</a:t>
            </a:r>
          </a:p>
        </p:txBody>
      </p:sp>
      <p:sp>
        <p:nvSpPr>
          <p:cNvPr id="23" name="Rounded Rectangle 22"/>
          <p:cNvSpPr/>
          <p:nvPr/>
        </p:nvSpPr>
        <p:spPr>
          <a:xfrm>
            <a:off x="6537960" y="4069080"/>
            <a:ext cx="4892040" cy="1234440"/>
          </a:xfrm>
          <a:prstGeom prst="roundRect">
            <a:avLst>
              <a:gd name="adj" fmla="val 12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50" b="0">
                <a:solidFill>
                  <a:srgbClr val="141828"/>
                </a:solidFill>
                <a:latin typeface="Segoe UI"/>
              </a:rPr>
              <a:t>A level-5 player who dies every time looks identical to a level-5
player who clears easily.  The fitness function cannot tell them
apart — the mined rules can.</a:t>
            </a:r>
          </a:p>
        </p:txBody>
      </p:sp>
      <p:sp>
        <p:nvSpPr>
          <p:cNvPr id="25" name="TextBox 24"/>
          <p:cNvSpPr txBox="1"/>
          <p:nvPr/>
        </p:nvSpPr>
        <p:spPr>
          <a:xfrm>
            <a:off x="502920" y="6309360"/>
            <a:ext cx="9601200" cy="292608"/>
          </a:xfrm>
          <a:prstGeom prst="rect">
            <a:avLst/>
          </a:prstGeom>
          <a:noFill/>
        </p:spPr>
        <p:txBody>
          <a:bodyPr wrap="none" lIns="0" tIns="0" rIns="0" bIns="0">
            <a:spAutoFit/>
          </a:bodyPr>
          <a:lstStyle/>
          <a:p>
            <a:r>
              <a:rPr sz="1050" i="1">
                <a:solidFill>
                  <a:srgbClr val="5A6076"/>
                </a:solidFill>
                <a:latin typeface="Segoe UI"/>
              </a:rPr>
              <a:t>The Game Engine → Profile Manager → Map Generator flow is the feedback loop: recorded behaviour becomes the next level's difficulty.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Monster AI</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One state machine, three personalities</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14 / 21</a:t>
            </a:r>
          </a:p>
        </p:txBody>
      </p:sp>
      <p:pic>
        <p:nvPicPr>
          <p:cNvPr id="6" name="Picture 5" descr="fig_5_8_monster_ai_fsm.png"/>
          <p:cNvPicPr>
            <a:picLocks noChangeAspect="1"/>
          </p:cNvPicPr>
          <p:nvPr/>
        </p:nvPicPr>
        <p:blipFill>
          <a:blip r:embed="rId3"/>
          <a:stretch>
            <a:fillRect/>
          </a:stretch>
        </p:blipFill>
        <p:spPr>
          <a:xfrm>
            <a:off x="594360" y="1572768"/>
            <a:ext cx="7315200" cy="3466178"/>
          </a:xfrm>
          <a:prstGeom prst="rect">
            <a:avLst/>
          </a:prstGeom>
        </p:spPr>
      </p:pic>
      <p:sp>
        <p:nvSpPr>
          <p:cNvPr id="7" name="TextBox 6"/>
          <p:cNvSpPr txBox="1"/>
          <p:nvPr/>
        </p:nvSpPr>
        <p:spPr>
          <a:xfrm>
            <a:off x="8183879" y="1691640"/>
            <a:ext cx="3520440" cy="3931920"/>
          </a:xfrm>
          <a:prstGeom prst="rect">
            <a:avLst/>
          </a:prstGeom>
          <a:noFill/>
        </p:spPr>
        <p:txBody>
          <a:bodyPr wrap="square" lIns="18288" tIns="0" rIns="18288" bIns="0">
            <a:spAutoFit/>
          </a:bodyPr>
          <a:lstStyle/>
          <a:p>
            <a:pPr marL="219456" indent="-219456" algn="l"/>
            <a:r>
              <a:rPr sz="1150" b="1">
                <a:solidFill>
                  <a:srgbClr val="1F4E9C"/>
                </a:solidFill>
              </a:rPr>
              <a:t>▪   </a:t>
            </a:r>
            <a:r>
              <a:rPr sz="1250" b="1">
                <a:solidFill>
                  <a:srgbClr val="141828"/>
                </a:solidFill>
                <a:latin typeface="Segoe UI"/>
              </a:rPr>
              <a:t>DORMANT</a:t>
            </a:r>
            <a:r>
              <a:rPr sz="1250" b="0">
                <a:solidFill>
                  <a:srgbClr val="141828"/>
                </a:solidFill>
                <a:latin typeface="Segoe UI"/>
              </a:rPr>
              <a:t> → </a:t>
            </a:r>
            <a:r>
              <a:rPr sz="1250" b="1">
                <a:solidFill>
                  <a:srgbClr val="141828"/>
                </a:solidFill>
                <a:latin typeface="Segoe UI"/>
              </a:rPr>
              <a:t>WAKE</a:t>
            </a:r>
            <a:r>
              <a:rPr sz="1250" b="0">
                <a:solidFill>
                  <a:srgbClr val="141828"/>
                </a:solidFill>
                <a:latin typeface="Segoe UI"/>
              </a:rPr>
              <a:t> → </a:t>
            </a:r>
            <a:r>
              <a:rPr sz="1250" b="1">
                <a:solidFill>
                  <a:srgbClr val="141828"/>
                </a:solidFill>
                <a:latin typeface="Segoe UI"/>
              </a:rPr>
              <a:t>CHASE</a:t>
            </a:r>
            <a:r>
              <a:rPr sz="1250" b="0">
                <a:solidFill>
                  <a:srgbClr val="141828"/>
                </a:solidFill>
                <a:latin typeface="Segoe UI"/>
              </a:rPr>
              <a:t> → </a:t>
            </a:r>
            <a:r>
              <a:rPr sz="1250" b="1">
                <a:solidFill>
                  <a:srgbClr val="141828"/>
                </a:solidFill>
                <a:latin typeface="Segoe UI"/>
              </a:rPr>
              <a:t>ATTACK</a:t>
            </a:r>
          </a:p>
          <a:p>
            <a:pPr algn="l">
              <a:spcAft>
                <a:spcPts val="700"/>
              </a:spcAft>
            </a:pPr>
            <a:endParaRPr sz="1250" b="1">
              <a:solidFill>
                <a:srgbClr val="141828"/>
              </a:solidFill>
              <a:latin typeface="Segoe UI"/>
            </a:endParaRPr>
          </a:p>
          <a:p>
            <a:pPr marL="219456" indent="-219456" algn="l"/>
            <a:r>
              <a:rPr sz="1150" b="1">
                <a:solidFill>
                  <a:srgbClr val="1F4E9C"/>
                </a:solidFill>
              </a:rPr>
              <a:t>▪   </a:t>
            </a:r>
            <a:r>
              <a:rPr sz="1250" b="0">
                <a:solidFill>
                  <a:srgbClr val="141828"/>
                </a:solidFill>
                <a:latin typeface="Segoe UI"/>
              </a:rPr>
              <a:t>A monster does not think at all while dormant — that is what makes exploration safe until you get close.</a:t>
            </a:r>
          </a:p>
          <a:p>
            <a:pPr algn="l">
              <a:spcAft>
                <a:spcPts val="7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Chase uses genuine A* paths</a:t>
            </a:r>
            <a:r>
              <a:rPr sz="1250" b="0">
                <a:solidFill>
                  <a:srgbClr val="141828"/>
                </a:solidFill>
                <a:latin typeface="Segoe UI"/>
              </a:rPr>
              <a:t>, on the monster's own movement tick rather than every frame.</a:t>
            </a:r>
          </a:p>
          <a:p>
            <a:pPr algn="l">
              <a:spcAft>
                <a:spcPts val="7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monster3's leash is enforced per step</a:t>
            </a:r>
            <a:r>
              <a:rPr sz="1250" b="0">
                <a:solidFill>
                  <a:srgbClr val="141828"/>
                </a:solidFill>
                <a:latin typeface="Segoe UI"/>
              </a:rPr>
              <a:t>, so it can never escape — which also guarantees the Door Key it drops is always reachable.</a:t>
            </a:r>
          </a:p>
          <a:p>
            <a:pPr algn="l">
              <a:spcAft>
                <a:spcPts val="7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Environment kills count</a:t>
            </a:r>
            <a:r>
              <a:rPr sz="1250" b="0">
                <a:solidFill>
                  <a:srgbClr val="141828"/>
                </a:solidFill>
                <a:latin typeface="Segoe UI"/>
              </a:rPr>
              <a:t>: a monster that dies in lava goes through the same kill path as one shot by the player, so you still get the XP.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Data &amp; Persistence</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One JSON document, no server</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15 / 21</a:t>
            </a:r>
          </a:p>
        </p:txBody>
      </p:sp>
      <p:pic>
        <p:nvPicPr>
          <p:cNvPr id="6" name="Picture 5" descr="fig_5_9_er_diagram.png"/>
          <p:cNvPicPr>
            <a:picLocks noChangeAspect="1"/>
          </p:cNvPicPr>
          <p:nvPr/>
        </p:nvPicPr>
        <p:blipFill>
          <a:blip r:embed="rId3"/>
          <a:stretch>
            <a:fillRect/>
          </a:stretch>
        </p:blipFill>
        <p:spPr>
          <a:xfrm>
            <a:off x="548640" y="1691640"/>
            <a:ext cx="7309023" cy="4069080"/>
          </a:xfrm>
          <a:prstGeom prst="rect">
            <a:avLst/>
          </a:prstGeom>
        </p:spPr>
      </p:pic>
      <p:sp>
        <p:nvSpPr>
          <p:cNvPr id="7" name="TextBox 6"/>
          <p:cNvSpPr txBox="1"/>
          <p:nvPr/>
        </p:nvSpPr>
        <p:spPr>
          <a:xfrm>
            <a:off x="8001000" y="1783080"/>
            <a:ext cx="3703320" cy="4023360"/>
          </a:xfrm>
          <a:prstGeom prst="rect">
            <a:avLst/>
          </a:prstGeom>
          <a:noFill/>
        </p:spPr>
        <p:txBody>
          <a:bodyPr wrap="square" lIns="18288" tIns="0" rIns="18288" bIns="0">
            <a:spAutoFit/>
          </a:bodyPr>
          <a:lstStyle/>
          <a:p>
            <a:pPr marL="219456" indent="-219456" algn="l"/>
            <a:r>
              <a:rPr sz="1150" b="1">
                <a:solidFill>
                  <a:srgbClr val="1F4E9C"/>
                </a:solidFill>
              </a:rPr>
              <a:t>▪   </a:t>
            </a:r>
            <a:r>
              <a:rPr sz="1250" b="1">
                <a:solidFill>
                  <a:srgbClr val="141828"/>
                </a:solidFill>
                <a:latin typeface="Segoe UI"/>
              </a:rPr>
              <a:t>Why JSON and not MySQL?</a:t>
            </a:r>
            <a:r>
              <a:rPr sz="1250" b="0">
                <a:solidFill>
                  <a:srgbClr val="141828"/>
                </a:solidFill>
                <a:latin typeface="Segoe UI"/>
              </a:rPr>
              <a:t>  The game is single-player and entirely local. A database server would add installation and maintenance for no benefit, and JSON needs no schema migration.</a:t>
            </a:r>
          </a:p>
          <a:p>
            <a:pPr algn="l">
              <a:spcAft>
                <a:spcPts val="8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Human-readable for testing</a:t>
            </a:r>
            <a:r>
              <a:rPr sz="1250" b="0">
                <a:solidFill>
                  <a:srgbClr val="141828"/>
                </a:solidFill>
                <a:latin typeface="Segoe UI"/>
              </a:rPr>
              <a:t> — we verified telemetry by reading the file directly rather than trusting the UI.</a:t>
            </a:r>
          </a:p>
          <a:p>
            <a:pPr algn="l">
              <a:spcAft>
                <a:spcPts val="8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Run rollback</a:t>
            </a:r>
            <a:r>
              <a:rPr sz="1250" b="0">
                <a:solidFill>
                  <a:srgbClr val="141828"/>
                </a:solidFill>
                <a:latin typeface="Segoe UI"/>
              </a:rPr>
              <a:t> —  the profile, items and equipped slots are deep-copied at the start of each level. Death restores that baseline, then re-applies only coins, item usage and the run counters.</a:t>
            </a:r>
          </a:p>
          <a:p>
            <a:pPr algn="l">
              <a:spcAft>
                <a:spcPts val="800"/>
              </a:spcAft>
            </a:pPr>
            <a:endParaRPr sz="1250" b="0">
              <a:solidFill>
                <a:srgbClr val="141828"/>
              </a:solidFill>
              <a:latin typeface="Segoe UI"/>
            </a:endParaRPr>
          </a:p>
          <a:p>
            <a:pPr marL="219456" indent="-219456" algn="l"/>
            <a:r>
              <a:rPr sz="1150" b="1">
                <a:solidFill>
                  <a:srgbClr val="1F4E9C"/>
                </a:solidFill>
              </a:rPr>
              <a:t>▪   </a:t>
            </a:r>
            <a:r>
              <a:rPr sz="1250" b="1">
                <a:solidFill>
                  <a:srgbClr val="141828"/>
                </a:solidFill>
                <a:latin typeface="Segoe UI"/>
              </a:rPr>
              <a:t>Thread safety</a:t>
            </a:r>
            <a:r>
              <a:rPr sz="1250" b="0">
                <a:solidFill>
                  <a:srgbClr val="141828"/>
                </a:solidFill>
                <a:latin typeface="Segoe UI"/>
              </a:rPr>
              <a:t> —  every write passes a threading.Lock; session events are queued and drained once per frame.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Diagrams</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Data flow and use case</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16 / 21</a:t>
            </a:r>
          </a:p>
        </p:txBody>
      </p:sp>
      <p:pic>
        <p:nvPicPr>
          <p:cNvPr id="6" name="Picture 5"/>
          <p:cNvPicPr>
            <a:picLocks noChangeAspect="1"/>
          </p:cNvPicPr>
          <p:nvPr/>
        </p:nvPicPr>
        <p:blipFill>
          <a:blip r:embed="rId3"/>
          <a:srcRect/>
          <a:stretch/>
        </p:blipFill>
        <p:spPr>
          <a:xfrm>
            <a:off x="1035995" y="2103119"/>
            <a:ext cx="4549465" cy="2370009"/>
          </a:xfrm>
          <a:prstGeom prst="rect">
            <a:avLst/>
          </a:prstGeom>
        </p:spPr>
      </p:pic>
      <p:pic>
        <p:nvPicPr>
          <p:cNvPr id="7" name="Picture 6"/>
          <p:cNvPicPr>
            <a:picLocks noChangeAspect="1"/>
          </p:cNvPicPr>
          <p:nvPr/>
        </p:nvPicPr>
        <p:blipFill>
          <a:blip r:embed="rId4"/>
          <a:srcRect/>
          <a:stretch/>
        </p:blipFill>
        <p:spPr>
          <a:xfrm>
            <a:off x="7269409" y="1024128"/>
            <a:ext cx="3516956" cy="3624072"/>
          </a:xfrm>
          <a:prstGeom prst="rect">
            <a:avLst/>
          </a:prstGeom>
        </p:spPr>
      </p:pic>
      <p:sp>
        <p:nvSpPr>
          <p:cNvPr id="8" name="Rounded Rectangle 7"/>
          <p:cNvSpPr/>
          <p:nvPr/>
        </p:nvSpPr>
        <p:spPr>
          <a:xfrm>
            <a:off x="685800" y="4800600"/>
            <a:ext cx="10835640" cy="1097280"/>
          </a:xfrm>
          <a:prstGeom prst="roundRect">
            <a:avLst>
              <a:gd name="adj" fmla="val 12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141828"/>
                </a:solidFill>
                <a:latin typeface="Segoe UI"/>
              </a:rPr>
              <a:t>The single most important flow in the whole system:  Game Engine  →  Profile Manager  →  Map Generator
The player's recorded level, kill history and item usage travel back into generation — that is the feedback loop, drawn as a data flow.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Challenges We Faced</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And what we learned</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19 / 21</a:t>
            </a:r>
          </a:p>
        </p:txBody>
      </p:sp>
      <p:sp>
        <p:nvSpPr>
          <p:cNvPr id="6" name="Rounded Rectangle 5"/>
          <p:cNvSpPr/>
          <p:nvPr/>
        </p:nvSpPr>
        <p:spPr>
          <a:xfrm>
            <a:off x="777240" y="1600200"/>
            <a:ext cx="10835640" cy="822960"/>
          </a:xfrm>
          <a:prstGeom prst="roundRect">
            <a:avLst>
              <a:gd name="adj" fmla="val 10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bIns="36576" rtlCol="0" anchor="ctr"/>
          <a:lstStyle/>
          <a:p>
            <a:pPr algn="l"/>
            <a:r>
              <a:rPr sz="1400" b="1">
                <a:solidFill>
                  <a:srgbClr val="1F4E9C"/>
                </a:solidFill>
                <a:latin typeface="Segoe UI"/>
              </a:rPr>
              <a:t>Making randomness produce good maps</a:t>
            </a:r>
          </a:p>
          <a:p>
            <a:pPr algn="l">
              <a:spcBef>
                <a:spcPts val="100"/>
              </a:spcBef>
            </a:pPr>
            <a:r>
              <a:rPr sz="1100">
                <a:solidFill>
                  <a:srgbClr val="141828"/>
                </a:solidFill>
                <a:latin typeface="Segoe UI"/>
              </a:rPr>
              <a:t>Pure noise is unplayable. The fix was to stop treating carving as the whole answer and split it: one stage creates the structure, a second measures it, a third repairs it, and only then is it scored.</a:t>
            </a:r>
          </a:p>
          <a:p>
            <a:pPr algn="l">
              <a:spcBef>
                <a:spcPts val="100"/>
              </a:spcBef>
            </a:pPr>
            <a:r>
              <a:rPr sz="1050" b="1">
                <a:solidFill>
                  <a:srgbClr val="0F7D8C"/>
                </a:solidFill>
                <a:latin typeface="Segoe UI"/>
              </a:rPr>
              <a:t>→  Split the problem; do not solve it in one pass</a:t>
            </a:r>
          </a:p>
        </p:txBody>
      </p:sp>
      <p:sp>
        <p:nvSpPr>
          <p:cNvPr id="7" name="Rounded Rectangle 6"/>
          <p:cNvSpPr/>
          <p:nvPr/>
        </p:nvSpPr>
        <p:spPr>
          <a:xfrm>
            <a:off x="777240" y="2505456"/>
            <a:ext cx="10835640" cy="822960"/>
          </a:xfrm>
          <a:prstGeom prst="roundRect">
            <a:avLst>
              <a:gd name="adj" fmla="val 10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bIns="36576" rtlCol="0" anchor="ctr"/>
          <a:lstStyle/>
          <a:p>
            <a:pPr algn="l"/>
            <a:r>
              <a:rPr sz="1400" b="1">
                <a:solidFill>
                  <a:srgbClr val="1F4E9C"/>
                </a:solidFill>
                <a:latin typeface="Segoe UI"/>
              </a:rPr>
              <a:t>Keeping the generator reproducible</a:t>
            </a:r>
          </a:p>
          <a:p>
            <a:pPr algn="l">
              <a:spcBef>
                <a:spcPts val="100"/>
              </a:spcBef>
            </a:pPr>
            <a:r>
              <a:rPr sz="1100">
                <a:solidFill>
                  <a:srgbClr val="141828"/>
                </a:solidFill>
                <a:latin typeface="Segoe UI"/>
              </a:rPr>
              <a:t>An in-place cellular automata update made results depend on scan order, so the same seed gave different maps. Moving to a separate next-grid, as in Conway's Game of Life, fixed it.</a:t>
            </a:r>
          </a:p>
          <a:p>
            <a:pPr algn="l">
              <a:spcBef>
                <a:spcPts val="100"/>
              </a:spcBef>
            </a:pPr>
            <a:r>
              <a:rPr sz="1050" b="1">
                <a:solidFill>
                  <a:srgbClr val="0F7D8C"/>
                </a:solidFill>
                <a:latin typeface="Segoe UI"/>
              </a:rPr>
              <a:t>→  Determinism is a design constraint, not a happy accident</a:t>
            </a:r>
          </a:p>
        </p:txBody>
      </p:sp>
      <p:sp>
        <p:nvSpPr>
          <p:cNvPr id="8" name="Rounded Rectangle 7"/>
          <p:cNvSpPr/>
          <p:nvPr/>
        </p:nvSpPr>
        <p:spPr>
          <a:xfrm>
            <a:off x="777240" y="3410712"/>
            <a:ext cx="10835640" cy="822960"/>
          </a:xfrm>
          <a:prstGeom prst="roundRect">
            <a:avLst>
              <a:gd name="adj" fmla="val 10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bIns="36576" rtlCol="0" anchor="ctr"/>
          <a:lstStyle/>
          <a:p>
            <a:pPr algn="l"/>
            <a:r>
              <a:rPr sz="1400" b="1">
                <a:solidFill>
                  <a:srgbClr val="1F4E9C"/>
                </a:solidFill>
                <a:latin typeface="Segoe UI"/>
              </a:rPr>
              <a:t>Stagnation in the genetic search</a:t>
            </a:r>
          </a:p>
          <a:p>
            <a:pPr algn="l">
              <a:spcBef>
                <a:spcPts val="100"/>
              </a:spcBef>
            </a:pPr>
            <a:r>
              <a:rPr sz="1100">
                <a:solidFill>
                  <a:srgbClr val="141828"/>
                </a:solidFill>
                <a:latin typeface="Segoe UI"/>
              </a:rPr>
              <a:t>With a fixed low mutation rate the population collapsed onto one layout. Ramping the rate 0.06 to 0.12 across generations restored exploration without losing elitism's protection.</a:t>
            </a:r>
          </a:p>
          <a:p>
            <a:pPr algn="l">
              <a:spcBef>
                <a:spcPts val="100"/>
              </a:spcBef>
            </a:pPr>
            <a:r>
              <a:rPr sz="1050" b="1">
                <a:solidFill>
                  <a:srgbClr val="0F7D8C"/>
                </a:solidFill>
                <a:latin typeface="Segoe UI"/>
              </a:rPr>
              <a:t>→  Exploit early, explore late</a:t>
            </a:r>
          </a:p>
        </p:txBody>
      </p:sp>
      <p:sp>
        <p:nvSpPr>
          <p:cNvPr id="9" name="Rounded Rectangle 8"/>
          <p:cNvSpPr/>
          <p:nvPr/>
        </p:nvSpPr>
        <p:spPr>
          <a:xfrm>
            <a:off x="777240" y="4315968"/>
            <a:ext cx="10835640" cy="822960"/>
          </a:xfrm>
          <a:prstGeom prst="roundRect">
            <a:avLst>
              <a:gd name="adj" fmla="val 10000"/>
            </a:avLst>
          </a:prstGeom>
          <a:solidFill>
            <a:srgbClr val="E8F4F4"/>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bIns="36576" rtlCol="0" anchor="ctr"/>
          <a:lstStyle/>
          <a:p>
            <a:pPr algn="l"/>
            <a:r>
              <a:rPr sz="1400" b="1">
                <a:solidFill>
                  <a:srgbClr val="1F4E9C"/>
                </a:solidFill>
                <a:latin typeface="Segoe UI"/>
              </a:rPr>
              <a:t>Personalisation that does nothing</a:t>
            </a:r>
          </a:p>
          <a:p>
            <a:pPr algn="l">
              <a:spcBef>
                <a:spcPts val="100"/>
              </a:spcBef>
            </a:pPr>
            <a:r>
              <a:rPr sz="1100">
                <a:solidFill>
                  <a:srgbClr val="141828"/>
                </a:solidFill>
                <a:latin typeface="Segoe UI"/>
              </a:rPr>
              <a:t>The first attempt produced identical open ratios for every player level because the random seed dominated the outcome. Only averaging over 20 runs per band revealed the real 21% difference.</a:t>
            </a:r>
          </a:p>
          <a:p>
            <a:pPr algn="l">
              <a:spcBef>
                <a:spcPts val="100"/>
              </a:spcBef>
            </a:pPr>
            <a:r>
              <a:rPr sz="1050" b="1">
                <a:solidFill>
                  <a:srgbClr val="0F7D8C"/>
                </a:solidFill>
                <a:latin typeface="Segoe UI"/>
              </a:rPr>
              <a:t>→  Measure distributions, not single samples</a:t>
            </a:r>
          </a:p>
        </p:txBody>
      </p:sp>
      <p:sp>
        <p:nvSpPr>
          <p:cNvPr id="10" name="Rounded Rectangle 9"/>
          <p:cNvSpPr/>
          <p:nvPr/>
        </p:nvSpPr>
        <p:spPr>
          <a:xfrm>
            <a:off x="777240" y="5221224"/>
            <a:ext cx="10835640" cy="822960"/>
          </a:xfrm>
          <a:prstGeom prst="roundRect">
            <a:avLst>
              <a:gd name="adj" fmla="val 10000"/>
            </a:avLst>
          </a:prstGeom>
          <a:solidFill>
            <a:srgbClr val="EEF2FB"/>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73152" bIns="36576" rtlCol="0" anchor="ctr"/>
          <a:lstStyle/>
          <a:p>
            <a:pPr algn="l"/>
            <a:r>
              <a:rPr sz="1400" b="1">
                <a:solidFill>
                  <a:srgbClr val="1F4E9C"/>
                </a:solidFill>
                <a:latin typeface="Segoe UI"/>
              </a:rPr>
              <a:t>Death that felt unfair</a:t>
            </a:r>
          </a:p>
          <a:p>
            <a:pPr algn="l">
              <a:spcBef>
                <a:spcPts val="100"/>
              </a:spcBef>
            </a:pPr>
            <a:r>
              <a:rPr sz="1100">
                <a:solidFill>
                  <a:srgbClr val="141828"/>
                </a:solidFill>
                <a:latin typeface="Segoe UI"/>
              </a:rPr>
              <a:t>The first run rollback restored some fields but not others, so players lost items they had earned. Deep-copying the full baseline and re-applying only coins and statistics fixed it.</a:t>
            </a:r>
          </a:p>
          <a:p>
            <a:pPr algn="l">
              <a:spcBef>
                <a:spcPts val="100"/>
              </a:spcBef>
            </a:pPr>
            <a:r>
              <a:rPr sz="1050" b="1">
                <a:solidFill>
                  <a:srgbClr val="0F7D8C"/>
                </a:solidFill>
                <a:latin typeface="Segoe UI"/>
              </a:rPr>
              <a:t>→  Define the penalty precisely, then enforce it uniformly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384048"/>
            <a:ext cx="91440" cy="566928"/>
          </a:xfrm>
          <a:prstGeom prst="rect">
            <a:avLst/>
          </a:prstGeom>
          <a:solidFill>
            <a:srgbClr val="1F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310896"/>
            <a:ext cx="10881360" cy="713232"/>
          </a:xfrm>
          <a:prstGeom prst="rect">
            <a:avLst/>
          </a:prstGeom>
          <a:noFill/>
        </p:spPr>
        <p:txBody>
          <a:bodyPr wrap="square" lIns="0" tIns="0" rIns="0" bIns="0">
            <a:spAutoFit/>
          </a:bodyPr>
          <a:lstStyle/>
          <a:p>
            <a:r>
              <a:rPr sz="2800" b="1">
                <a:solidFill>
                  <a:srgbClr val="141828"/>
                </a:solidFill>
                <a:latin typeface="Segoe UI"/>
              </a:rPr>
              <a:t>Conclusion</a:t>
            </a:r>
          </a:p>
        </p:txBody>
      </p:sp>
      <p:sp>
        <p:nvSpPr>
          <p:cNvPr id="4" name="TextBox 3"/>
          <p:cNvSpPr txBox="1"/>
          <p:nvPr/>
        </p:nvSpPr>
        <p:spPr>
          <a:xfrm>
            <a:off x="768096" y="969264"/>
            <a:ext cx="10881360" cy="310896"/>
          </a:xfrm>
          <a:prstGeom prst="rect">
            <a:avLst/>
          </a:prstGeom>
          <a:noFill/>
        </p:spPr>
        <p:txBody>
          <a:bodyPr wrap="square" lIns="0" tIns="0" rIns="0" bIns="0">
            <a:spAutoFit/>
          </a:bodyPr>
          <a:lstStyle/>
          <a:p>
            <a:r>
              <a:rPr sz="1350" i="1">
                <a:solidFill>
                  <a:srgbClr val="5A6076"/>
                </a:solidFill>
                <a:latin typeface="Segoe UI"/>
              </a:rPr>
              <a:t>What we achieved</a:t>
            </a:r>
          </a:p>
        </p:txBody>
      </p:sp>
      <p:sp>
        <p:nvSpPr>
          <p:cNvPr id="5" name="TextBox 4"/>
          <p:cNvSpPr txBox="1"/>
          <p:nvPr/>
        </p:nvSpPr>
        <p:spPr>
          <a:xfrm>
            <a:off x="10515600" y="6327648"/>
            <a:ext cx="1280160" cy="310896"/>
          </a:xfrm>
          <a:prstGeom prst="rect">
            <a:avLst/>
          </a:prstGeom>
          <a:noFill/>
        </p:spPr>
        <p:txBody>
          <a:bodyPr wrap="none" lIns="0" tIns="0" rIns="0" bIns="0">
            <a:spAutoFit/>
          </a:bodyPr>
          <a:lstStyle/>
          <a:p>
            <a:pPr algn="r"/>
            <a:r>
              <a:rPr sz="1000">
                <a:solidFill>
                  <a:srgbClr val="8A90A4"/>
                </a:solidFill>
                <a:latin typeface="Segoe UI"/>
              </a:rPr>
              <a:t>20 / 21</a:t>
            </a:r>
          </a:p>
        </p:txBody>
      </p:sp>
      <p:sp>
        <p:nvSpPr>
          <p:cNvPr id="6" name="TextBox 5"/>
          <p:cNvSpPr txBox="1"/>
          <p:nvPr/>
        </p:nvSpPr>
        <p:spPr>
          <a:xfrm>
            <a:off x="777240" y="1627632"/>
            <a:ext cx="5760720" cy="4023360"/>
          </a:xfrm>
          <a:prstGeom prst="rect">
            <a:avLst/>
          </a:prstGeom>
          <a:noFill/>
        </p:spPr>
        <p:txBody>
          <a:bodyPr wrap="square" lIns="18288" tIns="0" rIns="18288" bIns="0">
            <a:spAutoFit/>
          </a:bodyPr>
          <a:lstStyle/>
          <a:p>
            <a:pPr marL="219456" indent="-219456" algn="l"/>
            <a:r>
              <a:rPr sz="1300" b="1">
                <a:solidFill>
                  <a:srgbClr val="1F4E9C"/>
                </a:solidFill>
              </a:rPr>
              <a:t>▪   </a:t>
            </a:r>
            <a:r>
              <a:rPr sz="1400" b="1">
                <a:solidFill>
                  <a:srgbClr val="141828"/>
                </a:solidFill>
                <a:latin typeface="Segoe UI"/>
              </a:rPr>
              <a:t>A complete, playable game</a:t>
            </a:r>
            <a:r>
              <a:rPr sz="1400" b="0">
                <a:solidFill>
                  <a:srgbClr val="141828"/>
                </a:solidFill>
                <a:latin typeface="Segoe UI"/>
              </a:rPr>
              <a:t> — profile, class selection, movement, sprinting, aimed combat, items, chests, keys, XP, inventory, statistics, local persistence, stable 60 FPS.</a:t>
            </a:r>
          </a:p>
          <a:p>
            <a:pPr algn="l">
              <a:spcAft>
                <a:spcPts val="8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Every level is new</a:t>
            </a:r>
            <a:r>
              <a:rPr sz="1400" b="0">
                <a:solidFill>
                  <a:srgbClr val="141828"/>
                </a:solidFill>
                <a:latin typeface="Segoe UI"/>
              </a:rPr>
              <a:t> and guaranteed playable — verified at 1.0000 reachable ratio across 30 levels.</a:t>
            </a:r>
          </a:p>
          <a:p>
            <a:pPr algn="l">
              <a:spcAft>
                <a:spcPts val="8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Six AI and data-mining techniques implemented from scratch</a:t>
            </a:r>
            <a:r>
              <a:rPr sz="1400" b="0">
                <a:solidFill>
                  <a:srgbClr val="141828"/>
                </a:solidFill>
                <a:latin typeface="Segoe UI"/>
              </a:rPr>
              <a:t> in the Python standard library. The only third-party dependency in the project is Pygame, and it only draws.</a:t>
            </a:r>
          </a:p>
          <a:p>
            <a:pPr algn="l">
              <a:spcAft>
                <a:spcPts val="8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A closed feedback loop</a:t>
            </a:r>
            <a:r>
              <a:rPr sz="1400" b="0">
                <a:solidFill>
                  <a:srgbClr val="141828"/>
                </a:solidFill>
                <a:latin typeface="Segoe UI"/>
              </a:rPr>
              <a:t> — the game records what the player does, mines that behaviour for patterns, and feeds the result back into generation.</a:t>
            </a:r>
          </a:p>
          <a:p>
            <a:pPr algn="l">
              <a:spcAft>
                <a:spcPts val="800"/>
              </a:spcAft>
            </a:pPr>
            <a:endParaRPr sz="1400" b="0">
              <a:solidFill>
                <a:srgbClr val="141828"/>
              </a:solidFill>
              <a:latin typeface="Segoe UI"/>
            </a:endParaRPr>
          </a:p>
          <a:p>
            <a:pPr marL="219456" indent="-219456" algn="l"/>
            <a:r>
              <a:rPr sz="1300" b="1">
                <a:solidFill>
                  <a:srgbClr val="1F4E9C"/>
                </a:solidFill>
              </a:rPr>
              <a:t>▪   </a:t>
            </a:r>
            <a:r>
              <a:rPr sz="1400" b="1">
                <a:solidFill>
                  <a:srgbClr val="141828"/>
                </a:solidFill>
                <a:latin typeface="Segoe UI"/>
              </a:rPr>
              <a:t>Clean separation</a:t>
            </a:r>
            <a:r>
              <a:rPr sz="1400" b="0">
                <a:solidFill>
                  <a:srgbClr val="141828"/>
                </a:solidFill>
                <a:latin typeface="Segoe UI"/>
              </a:rPr>
              <a:t> — the AI layer has no dependency on the graphics, which is what made rigorous statistical validation possible at all.</a:t>
            </a:r>
          </a:p>
        </p:txBody>
      </p:sp>
      <p:sp>
        <p:nvSpPr>
          <p:cNvPr id="7" name="Rounded Rectangle 6"/>
          <p:cNvSpPr/>
          <p:nvPr/>
        </p:nvSpPr>
        <p:spPr>
          <a:xfrm>
            <a:off x="6903720" y="1645920"/>
            <a:ext cx="4709160" cy="402336"/>
          </a:xfrm>
          <a:prstGeom prst="roundRect">
            <a:avLst>
              <a:gd name="adj" fmla="val 12000"/>
            </a:avLst>
          </a:prstGeom>
          <a:solidFill>
            <a:srgbClr val="B8531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Segoe UI"/>
              </a:rPr>
              <a:t>Future work</a:t>
            </a:r>
          </a:p>
        </p:txBody>
      </p:sp>
      <p:sp>
        <p:nvSpPr>
          <p:cNvPr id="8" name="Rounded Rectangle 7"/>
          <p:cNvSpPr/>
          <p:nvPr/>
        </p:nvSpPr>
        <p:spPr>
          <a:xfrm>
            <a:off x="6903720" y="2176272"/>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Remove the legacy generator</a:t>
            </a:r>
          </a:p>
        </p:txBody>
      </p:sp>
      <p:sp>
        <p:nvSpPr>
          <p:cNvPr id="9" name="Rounded Rectangle 8"/>
          <p:cNvSpPr/>
          <p:nvPr/>
        </p:nvSpPr>
        <p:spPr>
          <a:xfrm>
            <a:off x="9144000" y="2176272"/>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tilemap.py is dead code with contradictory constants</a:t>
            </a:r>
          </a:p>
        </p:txBody>
      </p:sp>
      <p:sp>
        <p:nvSpPr>
          <p:cNvPr id="10" name="Rounded Rectangle 9"/>
          <p:cNvSpPr/>
          <p:nvPr/>
        </p:nvSpPr>
        <p:spPr>
          <a:xfrm>
            <a:off x="6903720" y="2638044"/>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Widen the history window</a:t>
            </a:r>
          </a:p>
        </p:txBody>
      </p:sp>
      <p:sp>
        <p:nvSpPr>
          <p:cNvPr id="11" name="Rounded Rectangle 10"/>
          <p:cNvSpPr/>
          <p:nvPr/>
        </p:nvSpPr>
        <p:spPr>
          <a:xfrm>
            <a:off x="9144000" y="2638044"/>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5 runs makes every confidence estimate fragile</a:t>
            </a:r>
          </a:p>
        </p:txBody>
      </p:sp>
      <p:sp>
        <p:nvSpPr>
          <p:cNvPr id="12" name="Rounded Rectangle 11"/>
          <p:cNvSpPr/>
          <p:nvPr/>
        </p:nvSpPr>
        <p:spPr>
          <a:xfrm>
            <a:off x="6903720" y="3099815"/>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Add a director layer</a:t>
            </a:r>
          </a:p>
        </p:txBody>
      </p:sp>
      <p:sp>
        <p:nvSpPr>
          <p:cNvPr id="13" name="Rounded Rectangle 12"/>
          <p:cNvSpPr/>
          <p:nvPr/>
        </p:nvSpPr>
        <p:spPr>
          <a:xfrm>
            <a:off x="9144000" y="3099815"/>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the Left 4 Dead model — adapt within a single level</a:t>
            </a:r>
          </a:p>
        </p:txBody>
      </p:sp>
      <p:sp>
        <p:nvSpPr>
          <p:cNvPr id="14" name="Rounded Rectangle 13"/>
          <p:cNvSpPr/>
          <p:nvPr/>
        </p:nvSpPr>
        <p:spPr>
          <a:xfrm>
            <a:off x="6903720" y="3561587"/>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Behaviourally distinct monsters</a:t>
            </a:r>
          </a:p>
        </p:txBody>
      </p:sp>
      <p:sp>
        <p:nvSpPr>
          <p:cNvPr id="15" name="Rounded Rectangle 14"/>
          <p:cNvSpPr/>
          <p:nvPr/>
        </p:nvSpPr>
        <p:spPr>
          <a:xfrm>
            <a:off x="9144000" y="3561587"/>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flee-when-low, flank, call-for-help</a:t>
            </a:r>
          </a:p>
        </p:txBody>
      </p:sp>
      <p:sp>
        <p:nvSpPr>
          <p:cNvPr id="16" name="Rounded Rectangle 15"/>
          <p:cNvSpPr/>
          <p:nvPr/>
        </p:nvSpPr>
        <p:spPr>
          <a:xfrm>
            <a:off x="6903720" y="4023359"/>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Chunk the world</a:t>
            </a:r>
          </a:p>
        </p:txBody>
      </p:sp>
      <p:sp>
        <p:nvSpPr>
          <p:cNvPr id="17" name="Rounded Rectangle 16"/>
          <p:cNvSpPr/>
          <p:nvPr/>
        </p:nvSpPr>
        <p:spPr>
          <a:xfrm>
            <a:off x="9144000" y="4023359"/>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enable much larger maps at the same generation cost</a:t>
            </a:r>
          </a:p>
        </p:txBody>
      </p:sp>
      <p:sp>
        <p:nvSpPr>
          <p:cNvPr id="18" name="Rounded Rectangle 17"/>
          <p:cNvSpPr/>
          <p:nvPr/>
        </p:nvSpPr>
        <p:spPr>
          <a:xfrm>
            <a:off x="6903720" y="4485131"/>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Fit the target from outcomes</a:t>
            </a:r>
          </a:p>
        </p:txBody>
      </p:sp>
      <p:sp>
        <p:nvSpPr>
          <p:cNvPr id="19" name="Rounded Rectangle 18"/>
          <p:cNvSpPr/>
          <p:nvPr/>
        </p:nvSpPr>
        <p:spPr>
          <a:xfrm>
            <a:off x="9144000" y="4485131"/>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remove the hand-tuned level bands</a:t>
            </a:r>
          </a:p>
        </p:txBody>
      </p:sp>
      <p:sp>
        <p:nvSpPr>
          <p:cNvPr id="20" name="Rounded Rectangle 19"/>
          <p:cNvSpPr/>
          <p:nvPr/>
        </p:nvSpPr>
        <p:spPr>
          <a:xfrm>
            <a:off x="6903720" y="4946903"/>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Seed sharing</a:t>
            </a:r>
          </a:p>
        </p:txBody>
      </p:sp>
      <p:sp>
        <p:nvSpPr>
          <p:cNvPr id="21" name="Rounded Rectangle 20"/>
          <p:cNvSpPr/>
          <p:nvPr/>
        </p:nvSpPr>
        <p:spPr>
          <a:xfrm>
            <a:off x="9144000" y="4946903"/>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turn generated levels into reproducible artefacts</a:t>
            </a:r>
          </a:p>
        </p:txBody>
      </p:sp>
      <p:sp>
        <p:nvSpPr>
          <p:cNvPr id="22" name="Rounded Rectangle 21"/>
          <p:cNvSpPr/>
          <p:nvPr/>
        </p:nvSpPr>
        <p:spPr>
          <a:xfrm>
            <a:off x="6903720" y="5408675"/>
            <a:ext cx="2148840" cy="365760"/>
          </a:xfrm>
          <a:prstGeom prst="roundRect">
            <a:avLst>
              <a:gd name="adj" fmla="val 12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wrap="square" lIns="82296" tIns="36576" bIns="36576" rtlCol="0" anchor="ctr"/>
          <a:lstStyle/>
          <a:p>
            <a:pPr algn="l"/>
            <a:r>
              <a:rPr sz="1050" b="1">
                <a:solidFill>
                  <a:srgbClr val="141828"/>
                </a:solidFill>
                <a:latin typeface="Segoe UI"/>
              </a:rPr>
              <a:t>Restore multiplayer</a:t>
            </a:r>
          </a:p>
        </p:txBody>
      </p:sp>
      <p:sp>
        <p:nvSpPr>
          <p:cNvPr id="23" name="Rounded Rectangle 22"/>
          <p:cNvSpPr/>
          <p:nvPr/>
        </p:nvSpPr>
        <p:spPr>
          <a:xfrm>
            <a:off x="9144000" y="5408675"/>
            <a:ext cx="2468880" cy="3657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bIns="36576" rtlCol="0" anchor="ctr"/>
          <a:lstStyle/>
          <a:p>
            <a:pPr algn="l"/>
            <a:r>
              <a:rPr sz="950" b="0">
                <a:solidFill>
                  <a:srgbClr val="5A6076"/>
                </a:solidFill>
                <a:latin typeface="Segoe UI"/>
              </a:rPr>
              <a:t>more players means far more meaningful rules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828"/>
        </a:solidFill>
        <a:effectLst/>
      </p:bgPr>
    </p:bg>
    <p:spTree>
      <p:nvGrpSpPr>
        <p:cNvPr id="1" name=""/>
        <p:cNvGrpSpPr/>
        <p:nvPr/>
      </p:nvGrpSpPr>
      <p:grpSpPr>
        <a:xfrm>
          <a:off x="0" y="0"/>
          <a:ext cx="0" cy="0"/>
          <a:chOff x="0" y="0"/>
          <a:chExt cx="0" cy="0"/>
        </a:xfrm>
      </p:grpSpPr>
      <p:sp>
        <p:nvSpPr>
          <p:cNvPr id="2" name="Rounded Rectangle 1"/>
          <p:cNvSpPr/>
          <p:nvPr/>
        </p:nvSpPr>
        <p:spPr>
          <a:xfrm>
            <a:off x="0" y="0"/>
            <a:ext cx="274320" cy="6858000"/>
          </a:xfrm>
          <a:prstGeom prst="roundRect">
            <a:avLst>
              <a:gd name="adj" fmla="val 12000"/>
            </a:avLst>
          </a:prstGeom>
          <a:solidFill>
            <a:srgbClr val="B853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48840"/>
            <a:ext cx="10332720" cy="1097280"/>
          </a:xfrm>
          <a:prstGeom prst="rect">
            <a:avLst/>
          </a:prstGeom>
          <a:noFill/>
        </p:spPr>
        <p:txBody>
          <a:bodyPr wrap="none">
            <a:spAutoFit/>
          </a:bodyPr>
          <a:lstStyle/>
          <a:p>
            <a:r>
              <a:rPr sz="5200" b="1">
                <a:solidFill>
                  <a:srgbClr val="FFFFFF"/>
                </a:solidFill>
                <a:latin typeface="Segoe UI"/>
              </a:rPr>
              <a:t>Thank you</a:t>
            </a:r>
          </a:p>
        </p:txBody>
      </p:sp>
      <p:sp>
        <p:nvSpPr>
          <p:cNvPr id="4" name="TextBox 3"/>
          <p:cNvSpPr txBox="1"/>
          <p:nvPr/>
        </p:nvSpPr>
        <p:spPr>
          <a:xfrm>
            <a:off x="914400" y="3154680"/>
            <a:ext cx="10332720" cy="548640"/>
          </a:xfrm>
          <a:prstGeom prst="rect">
            <a:avLst/>
          </a:prstGeom>
          <a:noFill/>
        </p:spPr>
        <p:txBody>
          <a:bodyPr wrap="none">
            <a:spAutoFit/>
          </a:bodyPr>
          <a:lstStyle/>
          <a:p>
            <a:r>
              <a:rPr sz="2600">
                <a:solidFill>
                  <a:srgbClr val="E89B5A"/>
                </a:solidFill>
                <a:latin typeface="Segoe UI"/>
              </a:rPr>
              <a:t>Questions?</a:t>
            </a:r>
          </a:p>
        </p:txBody>
      </p:sp>
      <p:sp>
        <p:nvSpPr>
          <p:cNvPr id="5" name="TextBox 4"/>
          <p:cNvSpPr txBox="1"/>
          <p:nvPr/>
        </p:nvSpPr>
        <p:spPr>
          <a:xfrm>
            <a:off x="914400" y="4160520"/>
            <a:ext cx="10332720" cy="1463040"/>
          </a:xfrm>
          <a:prstGeom prst="rect">
            <a:avLst/>
          </a:prstGeom>
          <a:noFill/>
        </p:spPr>
        <p:txBody>
          <a:bodyPr wrap="square">
            <a:spAutoFit/>
          </a:bodyPr>
          <a:lstStyle/>
          <a:p>
            <a:pPr>
              <a:spcAft>
                <a:spcPts val="500"/>
              </a:spcAft>
            </a:pPr>
            <a:r>
              <a:rPr sz="1300">
                <a:solidFill>
                  <a:srgbClr val="9AA6C2"/>
                </a:solidFill>
                <a:latin typeface="Segoe UI"/>
              </a:rPr>
              <a:t>Alisha Shahi (360801)   ·   Bhavishek Lama (360805)   ·   Riya Phuyal (360828)</a:t>
            </a:r>
          </a:p>
          <a:p>
            <a:pPr>
              <a:spcAft>
                <a:spcPts val="500"/>
              </a:spcAft>
            </a:pPr>
            <a:r>
              <a:rPr sz="1300">
                <a:solidFill>
                  <a:srgbClr val="9AA6C2"/>
                </a:solidFill>
                <a:latin typeface="Segoe UI"/>
              </a:rPr>
              <a:t>Kantipur City College, Putalisadak, Kathmandu</a:t>
            </a:r>
          </a:p>
          <a:p>
            <a:pPr>
              <a:spcAft>
                <a:spcPts val="500"/>
              </a:spcAft>
            </a:pPr>
            <a:r>
              <a:rPr sz="1300">
                <a:solidFill>
                  <a:srgbClr val="9AA6C2"/>
                </a:solidFill>
                <a:latin typeface="Segoe UI"/>
              </a:rPr>
              <a:t>Supervised by Santosh Prakash Shah and Maryada Karki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5770</Words>
  <Application>Microsoft Office PowerPoint</Application>
  <PresentationFormat>Widescreen</PresentationFormat>
  <Paragraphs>448</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bhavishek lama</cp:lastModifiedBy>
  <cp:revision>4</cp:revision>
  <dcterms:created xsi:type="dcterms:W3CDTF">2013-01-27T09:14:16Z</dcterms:created>
  <dcterms:modified xsi:type="dcterms:W3CDTF">2026-10-01T04:12:06Z</dcterms:modified>
  <cp:category/>
</cp:coreProperties>
</file>