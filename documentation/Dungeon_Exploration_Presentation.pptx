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1732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200" b="1">
                <a:solidFill>
                  <a:srgbClr val="16324F"/>
                </a:solidFill>
                <a:latin typeface="Aptos"/>
              </a:defRPr>
            </a:pPr>
            <a:r>
              <a:t>Dungeon Exploration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33172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0">
                <a:solidFill>
                  <a:srgbClr val="237A77"/>
                </a:solidFill>
                <a:latin typeface="Aptos"/>
              </a:defRPr>
            </a:pPr>
            <a:r>
              <a:t>Procedural action-adventure game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2578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0">
                <a:solidFill>
                  <a:srgbClr val="24313A"/>
                </a:solidFill>
                <a:latin typeface="Aptos"/>
              </a:defRPr>
            </a:pPr>
            <a:r>
              <a:t>Project presentation | Python + Pygame + algorithmic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6324F"/>
                </a:solidFill>
                <a:latin typeface="Aptos"/>
              </a:defRPr>
            </a:pPr>
            <a:r>
              <a:t>Project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37A77"/>
                </a:solidFill>
                <a:latin typeface="Aptos"/>
              </a:defRPr>
            </a:pPr>
            <a:r>
              <a:t>A replayable dungeon loop with explainable adaptive difficulty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25880"/>
            <a:ext cx="914400" cy="73152"/>
          </a:xfrm>
          <a:prstGeom prst="rect">
            <a:avLst/>
          </a:prstGeom>
          <a:solidFill>
            <a:srgbClr val="237A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0">
                <a:solidFill>
                  <a:srgbClr val="24313A"/>
                </a:solidFill>
                <a:latin typeface="Aptos"/>
              </a:defRPr>
            </a:pPr>
            <a:r>
              <a:t>- Create or select an explorer profile.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21408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0">
                <a:solidFill>
                  <a:srgbClr val="24313A"/>
                </a:solidFill>
                <a:latin typeface="Aptos"/>
              </a:defRPr>
            </a:pPr>
            <a:r>
              <a:t>- Enter a newly generated dungeon on every run.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96896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0">
                <a:solidFill>
                  <a:srgbClr val="24313A"/>
                </a:solidFill>
                <a:latin typeface="Aptos"/>
              </a:defRPr>
            </a:pPr>
            <a:r>
              <a:t>- Explore, fight, collect keys and treasures, and unlock the door.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72384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0">
                <a:solidFill>
                  <a:srgbClr val="24313A"/>
                </a:solidFill>
                <a:latin typeface="Aptos"/>
              </a:defRPr>
            </a:pPr>
            <a:r>
              <a:t>- Persist progression and use recent outcomes to shape future challenge.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6324F"/>
                </a:solidFill>
                <a:latin typeface="Aptos"/>
              </a:defRPr>
            </a:pPr>
            <a:r>
              <a:t>Overall game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37A77"/>
                </a:solidFill>
                <a:latin typeface="Aptos"/>
              </a:defRPr>
            </a:pPr>
            <a:r>
              <a:t>From launch to a completed or failed run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25880"/>
            <a:ext cx="914400" cy="73152"/>
          </a:xfrm>
          <a:prstGeom prst="rect">
            <a:avLst/>
          </a:prstGeom>
          <a:solidFill>
            <a:srgbClr val="237A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743200"/>
            <a:ext cx="1752600" cy="868680"/>
          </a:xfrm>
          <a:prstGeom prst="roundRect">
            <a:avLst/>
          </a:prstGeom>
          <a:solidFill>
            <a:srgbClr val="F2F7F8"/>
          </a:solidFill>
          <a:ln>
            <a:solidFill>
              <a:srgbClr val="237A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6324F"/>
                </a:solidFill>
                <a:latin typeface="Aptos"/>
              </a:defRPr>
            </a:pPr>
            <a:r>
              <a:t>Launch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01240" y="2990088"/>
            <a:ext cx="1097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237A77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10968" y="2743200"/>
            <a:ext cx="1752600" cy="868680"/>
          </a:xfrm>
          <a:prstGeom prst="roundRect">
            <a:avLst/>
          </a:prstGeom>
          <a:solidFill>
            <a:srgbClr val="F2F7F8"/>
          </a:solidFill>
          <a:ln>
            <a:solidFill>
              <a:srgbClr val="237A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6324F"/>
                </a:solidFill>
                <a:latin typeface="Aptos"/>
              </a:defRPr>
            </a:pPr>
            <a:r>
              <a:t>Profile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3568" y="2990088"/>
            <a:ext cx="1097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237A77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73296" y="2743200"/>
            <a:ext cx="1752600" cy="868680"/>
          </a:xfrm>
          <a:prstGeom prst="roundRect">
            <a:avLst/>
          </a:prstGeom>
          <a:solidFill>
            <a:srgbClr val="F2F7F8"/>
          </a:solidFill>
          <a:ln>
            <a:solidFill>
              <a:srgbClr val="237A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6324F"/>
                </a:solidFill>
                <a:latin typeface="Aptos"/>
              </a:defRPr>
            </a:pPr>
            <a:r>
              <a:t>Menu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25896" y="2990088"/>
            <a:ext cx="1097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237A77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35623" y="2743200"/>
            <a:ext cx="1752600" cy="868680"/>
          </a:xfrm>
          <a:prstGeom prst="roundRect">
            <a:avLst/>
          </a:prstGeom>
          <a:solidFill>
            <a:srgbClr val="F2F7F8"/>
          </a:solidFill>
          <a:ln>
            <a:solidFill>
              <a:srgbClr val="237A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6324F"/>
                </a:solidFill>
                <a:latin typeface="Aptos"/>
              </a:defRPr>
            </a:pPr>
            <a:r>
              <a:t>Generate world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88223" y="2990088"/>
            <a:ext cx="1097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237A77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97951" y="2743200"/>
            <a:ext cx="1752600" cy="868680"/>
          </a:xfrm>
          <a:prstGeom prst="roundRect">
            <a:avLst/>
          </a:prstGeom>
          <a:solidFill>
            <a:srgbClr val="F2F7F8"/>
          </a:solidFill>
          <a:ln>
            <a:solidFill>
              <a:srgbClr val="237A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6324F"/>
                </a:solidFill>
                <a:latin typeface="Aptos"/>
              </a:defRPr>
            </a:pPr>
            <a:r>
              <a:t>Explore + fight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50551" y="2990088"/>
            <a:ext cx="1097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237A77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60280" y="2743200"/>
            <a:ext cx="1752600" cy="868680"/>
          </a:xfrm>
          <a:prstGeom prst="roundRect">
            <a:avLst/>
          </a:prstGeom>
          <a:solidFill>
            <a:srgbClr val="F2F7F8"/>
          </a:solidFill>
          <a:ln>
            <a:solidFill>
              <a:srgbClr val="237A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6324F"/>
                </a:solidFill>
                <a:latin typeface="Aptos"/>
              </a:defRPr>
            </a:pPr>
            <a:r>
              <a:t>Clear / death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75488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0">
                <a:solidFill>
                  <a:srgbClr val="24313A"/>
                </a:solidFill>
                <a:latin typeface="Aptos"/>
              </a:defRPr>
            </a:pPr>
            <a:r>
              <a:t>The active screen owns input, update, and drawing while shared game_state carries the run across screens.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6324F"/>
                </a:solidFill>
                <a:latin typeface="Aptos"/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37A77"/>
                </a:solidFill>
                <a:latin typeface="Aptos"/>
              </a:defRPr>
            </a:pPr>
            <a:r>
              <a:t>Pygame presentation, shared game state, local persistence, and mapgen services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25880"/>
            <a:ext cx="914400" cy="73152"/>
          </a:xfrm>
          <a:prstGeom prst="rect">
            <a:avLst/>
          </a:prstGeom>
          <a:solidFill>
            <a:srgbClr val="237A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331720"/>
            <a:ext cx="2125065" cy="868680"/>
          </a:xfrm>
          <a:prstGeom prst="roundRect">
            <a:avLst/>
          </a:prstGeom>
          <a:solidFill>
            <a:srgbClr val="F2F7F8"/>
          </a:solidFill>
          <a:ln>
            <a:solidFill>
              <a:srgbClr val="237A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6324F"/>
                </a:solidFill>
                <a:latin typeface="Aptos"/>
              </a:defRPr>
            </a:pPr>
            <a:r>
              <a:t>Pygame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73705" y="2578608"/>
            <a:ext cx="1097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237A77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83433" y="2331720"/>
            <a:ext cx="2125065" cy="868680"/>
          </a:xfrm>
          <a:prstGeom prst="roundRect">
            <a:avLst/>
          </a:prstGeom>
          <a:solidFill>
            <a:srgbClr val="F2F7F8"/>
          </a:solidFill>
          <a:ln>
            <a:solidFill>
              <a:srgbClr val="237A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6324F"/>
                </a:solidFill>
                <a:latin typeface="Aptos"/>
              </a:defRPr>
            </a:pPr>
            <a:r>
              <a:t>ScreenManager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08499" y="2578608"/>
            <a:ext cx="1097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237A77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18227" y="2331720"/>
            <a:ext cx="2125065" cy="868680"/>
          </a:xfrm>
          <a:prstGeom prst="roundRect">
            <a:avLst/>
          </a:prstGeom>
          <a:solidFill>
            <a:srgbClr val="F2F7F8"/>
          </a:solidFill>
          <a:ln>
            <a:solidFill>
              <a:srgbClr val="237A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6324F"/>
                </a:solidFill>
                <a:latin typeface="Aptos"/>
              </a:defRPr>
            </a:pPr>
            <a:r>
              <a:t>GameScreen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43292" y="2578608"/>
            <a:ext cx="1097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237A77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53020" y="2331720"/>
            <a:ext cx="2125065" cy="868680"/>
          </a:xfrm>
          <a:prstGeom prst="roundRect">
            <a:avLst/>
          </a:prstGeom>
          <a:solidFill>
            <a:srgbClr val="F2F7F8"/>
          </a:solidFill>
          <a:ln>
            <a:solidFill>
              <a:srgbClr val="237A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6324F"/>
                </a:solidFill>
                <a:latin typeface="Aptos"/>
              </a:defRPr>
            </a:pPr>
            <a:r>
              <a:t>shared.mapgen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78086" y="2578608"/>
            <a:ext cx="1097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237A77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87814" y="2331720"/>
            <a:ext cx="2125065" cy="868680"/>
          </a:xfrm>
          <a:prstGeom prst="roundRect">
            <a:avLst/>
          </a:prstGeom>
          <a:solidFill>
            <a:srgbClr val="F2F7F8"/>
          </a:solidFill>
          <a:ln>
            <a:solidFill>
              <a:srgbClr val="237A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6324F"/>
                </a:solidFill>
                <a:latin typeface="Aptos"/>
              </a:defRPr>
            </a:pPr>
            <a:r>
              <a:t>ClientSession / JSON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5196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24313A"/>
                </a:solidFill>
                <a:latin typeface="Aptos"/>
              </a:defRPr>
            </a:pPr>
            <a:r>
              <a:t>- One active screen receives events and renders each frame.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75488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24313A"/>
                </a:solidFill>
                <a:latin typeface="Aptos"/>
              </a:defRPr>
            </a:pPr>
            <a:r>
              <a:t>- GameScreen bridges generated data with player, monsters, projectiles, and interactions.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25780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24313A"/>
                </a:solidFill>
                <a:latin typeface="Aptos"/>
              </a:defRPr>
            </a:pPr>
            <a:r>
              <a:t>- ClientSession saves persistent inventory, coins, item usage, and recent results.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6324F"/>
                </a:solidFill>
                <a:latin typeface="Aptos"/>
              </a:defRPr>
            </a:pPr>
            <a:r>
              <a:t>Procedural generation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37A77"/>
                </a:solidFill>
                <a:latin typeface="Aptos"/>
              </a:defRPr>
            </a:pPr>
            <a:r>
              <a:t>A hybrid of evolutionary search, cellular smoothing, and graph search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25880"/>
            <a:ext cx="914400" cy="73152"/>
          </a:xfrm>
          <a:prstGeom prst="rect">
            <a:avLst/>
          </a:prstGeom>
          <a:solidFill>
            <a:srgbClr val="237A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331720"/>
            <a:ext cx="1486553" cy="868680"/>
          </a:xfrm>
          <a:prstGeom prst="roundRect">
            <a:avLst/>
          </a:prstGeom>
          <a:solidFill>
            <a:srgbClr val="F2F7F8"/>
          </a:solidFill>
          <a:ln>
            <a:solidFill>
              <a:srgbClr val="237A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6324F"/>
                </a:solidFill>
                <a:latin typeface="Aptos"/>
              </a:defRPr>
            </a:pPr>
            <a:r>
              <a:t>Seed population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35193" y="2578608"/>
            <a:ext cx="1097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237A77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44921" y="2331720"/>
            <a:ext cx="1486553" cy="868680"/>
          </a:xfrm>
          <a:prstGeom prst="roundRect">
            <a:avLst/>
          </a:prstGeom>
          <a:solidFill>
            <a:srgbClr val="F2F7F8"/>
          </a:solidFill>
          <a:ln>
            <a:solidFill>
              <a:srgbClr val="237A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6324F"/>
                </a:solidFill>
                <a:latin typeface="Aptos"/>
              </a:defRPr>
            </a:pPr>
            <a:r>
              <a:t>Carve 9 sectors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31474" y="2578608"/>
            <a:ext cx="1097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237A77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41202" y="2331720"/>
            <a:ext cx="1486553" cy="868680"/>
          </a:xfrm>
          <a:prstGeom prst="roundRect">
            <a:avLst/>
          </a:prstGeom>
          <a:solidFill>
            <a:srgbClr val="F2F7F8"/>
          </a:solidFill>
          <a:ln>
            <a:solidFill>
              <a:srgbClr val="237A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6324F"/>
                </a:solidFill>
                <a:latin typeface="Aptos"/>
              </a:defRPr>
            </a:pPr>
            <a:r>
              <a:t>Smooth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27755" y="2578608"/>
            <a:ext cx="1097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237A77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37483" y="2331720"/>
            <a:ext cx="1486553" cy="868680"/>
          </a:xfrm>
          <a:prstGeom prst="roundRect">
            <a:avLst/>
          </a:prstGeom>
          <a:solidFill>
            <a:srgbClr val="F2F7F8"/>
          </a:solidFill>
          <a:ln>
            <a:solidFill>
              <a:srgbClr val="237A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6324F"/>
                </a:solidFill>
                <a:latin typeface="Aptos"/>
              </a:defRPr>
            </a:pPr>
            <a:r>
              <a:t>Repair BFS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24036" y="2578608"/>
            <a:ext cx="1097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237A77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33764" y="2331720"/>
            <a:ext cx="1486553" cy="868680"/>
          </a:xfrm>
          <a:prstGeom prst="roundRect">
            <a:avLst/>
          </a:prstGeom>
          <a:solidFill>
            <a:srgbClr val="F2F7F8"/>
          </a:solidFill>
          <a:ln>
            <a:solidFill>
              <a:srgbClr val="237A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6324F"/>
                </a:solidFill>
                <a:latin typeface="Aptos"/>
              </a:defRPr>
            </a:pPr>
            <a:r>
              <a:t>Evaluate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20317" y="2578608"/>
            <a:ext cx="1097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237A77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30045" y="2331720"/>
            <a:ext cx="1486553" cy="868680"/>
          </a:xfrm>
          <a:prstGeom prst="roundRect">
            <a:avLst/>
          </a:prstGeom>
          <a:solidFill>
            <a:srgbClr val="F2F7F8"/>
          </a:solidFill>
          <a:ln>
            <a:solidFill>
              <a:srgbClr val="237A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6324F"/>
                </a:solidFill>
                <a:latin typeface="Aptos"/>
              </a:defRPr>
            </a:pPr>
            <a:r>
              <a:t>Breed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16598" y="2578608"/>
            <a:ext cx="1097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237A77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126326" y="2331720"/>
            <a:ext cx="1486553" cy="868680"/>
          </a:xfrm>
          <a:prstGeom prst="roundRect">
            <a:avLst/>
          </a:prstGeom>
          <a:solidFill>
            <a:srgbClr val="F2F7F8"/>
          </a:solidFill>
          <a:ln>
            <a:solidFill>
              <a:srgbClr val="237A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6324F"/>
                </a:solidFill>
                <a:latin typeface="Aptos"/>
              </a:defRPr>
            </a:pPr>
            <a:r>
              <a:t>Select + place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80060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237A77"/>
                </a:solidFill>
                <a:latin typeface="Aptos"/>
              </a:defRPr>
            </a:pPr>
            <a:r>
              <a:t>Default configuration: 81 x 81 map, 8 candidates, 4 generations, 3 x 3 sector structure.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6324F"/>
                </a:solidFill>
                <a:latin typeface="Aptos"/>
              </a:defRPr>
            </a:pPr>
            <a:r>
              <a:t>Where the AI 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37A77"/>
                </a:solidFill>
                <a:latin typeface="Aptos"/>
              </a:defRPr>
            </a:pPr>
            <a:r>
              <a:t>AI here means explainable algorithmic decisions, not a trained neural network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25880"/>
            <a:ext cx="914400" cy="73152"/>
          </a:xfrm>
          <a:prstGeom prst="rect">
            <a:avLst/>
          </a:prstGeom>
          <a:solidFill>
            <a:srgbClr val="237A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0">
                <a:solidFill>
                  <a:srgbClr val="24313A"/>
                </a:solidFill>
                <a:latin typeface="Aptos"/>
              </a:defRPr>
            </a:pPr>
            <a:r>
              <a:t>- Genetic algorithm: keeps strong layouts, crosses parents, and mutates tiles.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21408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0">
                <a:solidFill>
                  <a:srgbClr val="24313A"/>
                </a:solidFill>
                <a:latin typeface="Aptos"/>
              </a:defRPr>
            </a:pPr>
            <a:r>
              <a:t>- BFS: measures reachable space, distances, and connectivity repairs.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96896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0">
                <a:solidFill>
                  <a:srgbClr val="24313A"/>
                </a:solidFill>
                <a:latin typeface="Aptos"/>
              </a:defRPr>
            </a:pPr>
            <a:r>
              <a:t>- A*: validates paths before placing or scheduling entities.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72384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0">
                <a:solidFill>
                  <a:srgbClr val="24313A"/>
                </a:solidFill>
                <a:latin typeface="Aptos"/>
              </a:defRPr>
            </a:pPr>
            <a:r>
              <a:t>- Decision rules: mine the last five games and adjust the next monster limit.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6324F"/>
                </a:solidFill>
                <a:latin typeface="Aptos"/>
              </a:defRPr>
            </a:pPr>
            <a:r>
              <a:t>Adaptive difficulty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37A77"/>
                </a:solidFill>
                <a:latin typeface="Aptos"/>
              </a:defRPr>
            </a:pPr>
            <a:r>
              <a:t>The decision tree turns recent player outcomes into a transparent rule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25880"/>
            <a:ext cx="914400" cy="73152"/>
          </a:xfrm>
          <a:prstGeom prst="rect">
            <a:avLst/>
          </a:prstGeom>
          <a:solidFill>
            <a:srgbClr val="237A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240280"/>
            <a:ext cx="2125065" cy="868680"/>
          </a:xfrm>
          <a:prstGeom prst="roundRect">
            <a:avLst/>
          </a:prstGeom>
          <a:solidFill>
            <a:srgbClr val="F2F7F8"/>
          </a:solidFill>
          <a:ln>
            <a:solidFill>
              <a:srgbClr val="237A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6324F"/>
                </a:solidFill>
                <a:latin typeface="Aptos"/>
              </a:defRPr>
            </a:pPr>
            <a:r>
              <a:t>Last 5 games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73705" y="2487168"/>
            <a:ext cx="1097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237A77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83433" y="2240280"/>
            <a:ext cx="2125065" cy="868680"/>
          </a:xfrm>
          <a:prstGeom prst="roundRect">
            <a:avLst/>
          </a:prstGeom>
          <a:solidFill>
            <a:srgbClr val="F2F7F8"/>
          </a:solidFill>
          <a:ln>
            <a:solidFill>
              <a:srgbClr val="237A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6324F"/>
                </a:solidFill>
                <a:latin typeface="Aptos"/>
              </a:defRPr>
            </a:pPr>
            <a:r>
              <a:t>Kill + clear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08499" y="2487168"/>
            <a:ext cx="1097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237A77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18227" y="2240280"/>
            <a:ext cx="2125065" cy="868680"/>
          </a:xfrm>
          <a:prstGeom prst="roundRect">
            <a:avLst/>
          </a:prstGeom>
          <a:solidFill>
            <a:srgbClr val="F2F7F8"/>
          </a:solidFill>
          <a:ln>
            <a:solidFill>
              <a:srgbClr val="237A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6324F"/>
                </a:solidFill>
                <a:latin typeface="Aptos"/>
              </a:defRPr>
            </a:pPr>
            <a:r>
              <a:t>Association rules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43292" y="2487168"/>
            <a:ext cx="1097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237A77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53020" y="2240280"/>
            <a:ext cx="2125065" cy="868680"/>
          </a:xfrm>
          <a:prstGeom prst="roundRect">
            <a:avLst/>
          </a:prstGeom>
          <a:solidFill>
            <a:srgbClr val="F2F7F8"/>
          </a:solidFill>
          <a:ln>
            <a:solidFill>
              <a:srgbClr val="237A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6324F"/>
                </a:solidFill>
                <a:latin typeface="Aptos"/>
              </a:defRPr>
            </a:pPr>
            <a:r>
              <a:t>Loss streak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78086" y="2487168"/>
            <a:ext cx="1097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237A77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87814" y="2240280"/>
            <a:ext cx="2125065" cy="868680"/>
          </a:xfrm>
          <a:prstGeom prst="roundRect">
            <a:avLst/>
          </a:prstGeom>
          <a:solidFill>
            <a:srgbClr val="F2F7F8"/>
          </a:solidFill>
          <a:ln>
            <a:solidFill>
              <a:srgbClr val="237A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6324F"/>
                </a:solidFill>
                <a:latin typeface="Aptos"/>
              </a:defRPr>
            </a:pPr>
            <a:r>
              <a:t>Monster limit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66344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0">
                <a:solidFill>
                  <a:srgbClr val="24313A"/>
                </a:solidFill>
                <a:latin typeface="Aptos"/>
              </a:defRPr>
            </a:pPr>
            <a:r>
              <a:t>Default = 12 monsters. Repeated low-kill losses can increase the limit up to 18; repeated high-kill clears increase it modestly.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6324F"/>
                </a:solidFill>
                <a:latin typeface="Aptos"/>
              </a:defRPr>
            </a:pPr>
            <a:r>
              <a:t>Objective and entity placement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37A77"/>
                </a:solidFill>
                <a:latin typeface="Aptos"/>
              </a:defRPr>
            </a:pPr>
            <a:r>
              <a:t>Functional content is placed after the map is proven playable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25880"/>
            <a:ext cx="914400" cy="73152"/>
          </a:xfrm>
          <a:prstGeom prst="rect">
            <a:avLst/>
          </a:prstGeom>
          <a:solidFill>
            <a:srgbClr val="237A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0">
                <a:solidFill>
                  <a:srgbClr val="24313A"/>
                </a:solidFill>
                <a:latin typeface="Aptos"/>
              </a:defRPr>
            </a:pPr>
            <a:r>
              <a:t>- Door key and door use farthest reachable tiles to create exploration goals.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21408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0">
                <a:solidFill>
                  <a:srgbClr val="24313A"/>
                </a:solidFill>
                <a:latin typeface="Aptos"/>
              </a:defRPr>
            </a:pPr>
            <a:r>
              <a:t>- Treasures receive randomized rewards: coins, bow, or light.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96896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0">
                <a:solidFill>
                  <a:srgbClr val="24313A"/>
                </a:solidFill>
                <a:latin typeface="Aptos"/>
              </a:defRPr>
            </a:pPr>
            <a:r>
              <a:t>- Keys are separated from treasure locations.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72384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0">
                <a:solidFill>
                  <a:srgbClr val="24313A"/>
                </a:solidFill>
                <a:latin typeface="Aptos"/>
              </a:defRPr>
            </a:pPr>
            <a:r>
              <a:t>- Monsters guard treasure and appear through a spawn schedule.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47872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0">
                <a:solidFill>
                  <a:srgbClr val="24313A"/>
                </a:solidFill>
                <a:latin typeface="Aptos"/>
              </a:defRPr>
            </a:pPr>
            <a:r>
              <a:t>- Lights, water, lava, and decorations add environmental identity.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6324F"/>
                </a:solidFill>
                <a:latin typeface="Aptos"/>
              </a:defRPr>
            </a:pPr>
            <a:r>
              <a:t>Gameplay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37A77"/>
                </a:solidFill>
                <a:latin typeface="Aptos"/>
              </a:defRPr>
            </a:pPr>
            <a:r>
              <a:t>Real-time control inside the generated grid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25880"/>
            <a:ext cx="914400" cy="73152"/>
          </a:xfrm>
          <a:prstGeom prst="rect">
            <a:avLst/>
          </a:prstGeom>
          <a:solidFill>
            <a:srgbClr val="237A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752600" cy="868680"/>
          </a:xfrm>
          <a:prstGeom prst="roundRect">
            <a:avLst/>
          </a:prstGeom>
          <a:solidFill>
            <a:srgbClr val="F2F7F8"/>
          </a:solidFill>
          <a:ln>
            <a:solidFill>
              <a:srgbClr val="237A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6324F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01240" y="2532888"/>
            <a:ext cx="1097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237A77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10968" y="2286000"/>
            <a:ext cx="1752600" cy="868680"/>
          </a:xfrm>
          <a:prstGeom prst="roundRect">
            <a:avLst/>
          </a:prstGeom>
          <a:solidFill>
            <a:srgbClr val="F2F7F8"/>
          </a:solidFill>
          <a:ln>
            <a:solidFill>
              <a:srgbClr val="237A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6324F"/>
                </a:solidFill>
                <a:latin typeface="Aptos"/>
              </a:defRPr>
            </a:pPr>
            <a:r>
              <a:t>Collision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3568" y="2532888"/>
            <a:ext cx="1097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237A77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73296" y="2286000"/>
            <a:ext cx="1752600" cy="868680"/>
          </a:xfrm>
          <a:prstGeom prst="roundRect">
            <a:avLst/>
          </a:prstGeom>
          <a:solidFill>
            <a:srgbClr val="F2F7F8"/>
          </a:solidFill>
          <a:ln>
            <a:solidFill>
              <a:srgbClr val="237A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6324F"/>
                </a:solidFill>
                <a:latin typeface="Aptos"/>
              </a:defRPr>
            </a:pPr>
            <a:r>
              <a:t>Terrain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25896" y="2532888"/>
            <a:ext cx="1097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237A77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35623" y="2286000"/>
            <a:ext cx="1752600" cy="868680"/>
          </a:xfrm>
          <a:prstGeom prst="roundRect">
            <a:avLst/>
          </a:prstGeom>
          <a:solidFill>
            <a:srgbClr val="F2F7F8"/>
          </a:solidFill>
          <a:ln>
            <a:solidFill>
              <a:srgbClr val="237A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6324F"/>
                </a:solidFill>
                <a:latin typeface="Aptos"/>
              </a:defRPr>
            </a:pPr>
            <a:r>
              <a:t>Combat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88223" y="2532888"/>
            <a:ext cx="1097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237A77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97951" y="2286000"/>
            <a:ext cx="1752600" cy="868680"/>
          </a:xfrm>
          <a:prstGeom prst="roundRect">
            <a:avLst/>
          </a:prstGeom>
          <a:solidFill>
            <a:srgbClr val="F2F7F8"/>
          </a:solidFill>
          <a:ln>
            <a:solidFill>
              <a:srgbClr val="237A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6324F"/>
                </a:solidFill>
                <a:latin typeface="Aptos"/>
              </a:defRPr>
            </a:pPr>
            <a:r>
              <a:t>Items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50551" y="2532888"/>
            <a:ext cx="1097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237A77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60280" y="2286000"/>
            <a:ext cx="1752600" cy="868680"/>
          </a:xfrm>
          <a:prstGeom prst="roundRect">
            <a:avLst/>
          </a:prstGeom>
          <a:solidFill>
            <a:srgbClr val="F2F7F8"/>
          </a:solidFill>
          <a:ln>
            <a:solidFill>
              <a:srgbClr val="237A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6324F"/>
                </a:solidFill>
                <a:latin typeface="Aptos"/>
              </a:defRPr>
            </a:pPr>
            <a:r>
              <a:t>Outcome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25196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4313A"/>
                </a:solidFill>
                <a:latin typeface="Aptos"/>
              </a:defRPr>
            </a:pPr>
            <a:r>
              <a:t>- WASD / arrows move; Shift sprints while stamina is available.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690872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4313A"/>
                </a:solidFill>
                <a:latin typeface="Aptos"/>
              </a:defRPr>
            </a:pPr>
            <a:r>
              <a:t>- Mouse input aims and fires projectiles.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129784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4313A"/>
                </a:solidFill>
                <a:latin typeface="Aptos"/>
              </a:defRPr>
            </a:pPr>
            <a:r>
              <a:t>- Walls block movement; water and hazards modify survival and movement.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568696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4313A"/>
                </a:solidFill>
                <a:latin typeface="Aptos"/>
              </a:defRPr>
            </a:pPr>
            <a:r>
              <a:t>- E or Space opens inventory / resolves world interactions; Escape pauses.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6324F"/>
                </a:solidFill>
                <a:latin typeface="Aptos"/>
              </a:defRPr>
            </a:pPr>
            <a:r>
              <a:t>Persistence and progression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37A77"/>
                </a:solidFill>
                <a:latin typeface="Aptos"/>
              </a:defRPr>
            </a:pPr>
            <a:r>
              <a:t>The local profile is part of the game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25880"/>
            <a:ext cx="914400" cy="73152"/>
          </a:xfrm>
          <a:prstGeom prst="rect">
            <a:avLst/>
          </a:prstGeom>
          <a:solidFill>
            <a:srgbClr val="237A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0">
                <a:solidFill>
                  <a:srgbClr val="24313A"/>
                </a:solidFill>
                <a:latin typeface="Aptos"/>
              </a:defRPr>
            </a:pPr>
            <a:r>
              <a:t>- Profiles are stored in `src/client/data/profiles.json`.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21408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0">
                <a:solidFill>
                  <a:srgbClr val="24313A"/>
                </a:solidFill>
                <a:latin typeface="Aptos"/>
              </a:defRPr>
            </a:pPr>
            <a:r>
              <a:t>- Class, level, experience, inventory, coins, and item usage survive between runs.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96896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0">
                <a:solidFill>
                  <a:srgbClr val="24313A"/>
                </a:solidFill>
                <a:latin typeface="Aptos"/>
              </a:defRPr>
            </a:pPr>
            <a:r>
              <a:t>- Temporary keys and run-only items are removed when a run ends.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72384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0">
                <a:solidFill>
                  <a:srgbClr val="24313A"/>
                </a:solidFill>
                <a:latin typeface="Aptos"/>
              </a:defRPr>
            </a:pPr>
            <a:r>
              <a:t>- The last five game outcomes feed the next generation's difficulty decision.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6324F"/>
                </a:solidFill>
                <a:latin typeface="Aptos"/>
              </a:defRPr>
            </a:pPr>
            <a:r>
              <a:t>Testing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37A77"/>
                </a:solidFill>
                <a:latin typeface="Aptos"/>
              </a:defRPr>
            </a:pPr>
            <a:r>
              <a:t>What should be demonstrated and verified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25880"/>
            <a:ext cx="914400" cy="73152"/>
          </a:xfrm>
          <a:prstGeom prst="rect">
            <a:avLst/>
          </a:prstGeom>
          <a:solidFill>
            <a:srgbClr val="237A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0">
                <a:solidFill>
                  <a:srgbClr val="24313A"/>
                </a:solidFill>
                <a:latin typeface="Aptos"/>
              </a:defRPr>
            </a:pPr>
            <a:r>
              <a:t>- Launch and profile creation / selection.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21408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0">
                <a:solidFill>
                  <a:srgbClr val="24313A"/>
                </a:solidFill>
                <a:latin typeface="Aptos"/>
              </a:defRPr>
            </a:pPr>
            <a:r>
              <a:t>- Deterministic seeded map generation and random-seed variety.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96896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0">
                <a:solidFill>
                  <a:srgbClr val="24313A"/>
                </a:solidFill>
                <a:latin typeface="Aptos"/>
              </a:defRPr>
            </a:pPr>
            <a:r>
              <a:t>- BFS reachable ratio and A* path checks for objectives and monsters.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72384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0">
                <a:solidFill>
                  <a:srgbClr val="24313A"/>
                </a:solidFill>
                <a:latin typeface="Aptos"/>
              </a:defRPr>
            </a:pPr>
            <a:r>
              <a:t>- Movement, collision, combat, item use, scheduled spawning, and door interaction.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47872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0">
                <a:solidFill>
                  <a:srgbClr val="24313A"/>
                </a:solidFill>
                <a:latin typeface="Aptos"/>
              </a:defRPr>
            </a:pPr>
            <a:r>
              <a:t>- Run recording, persistence, and adaptive monster-limit boundaries.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6324F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37A77"/>
                </a:solidFill>
                <a:latin typeface="Aptos"/>
              </a:defRPr>
            </a:pPr>
            <a:r>
              <a:t>A compact game with a strong algorithmic core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25880"/>
            <a:ext cx="914400" cy="73152"/>
          </a:xfrm>
          <a:prstGeom prst="rect">
            <a:avLst/>
          </a:prstGeom>
          <a:solidFill>
            <a:srgbClr val="237A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0">
                <a:solidFill>
                  <a:srgbClr val="24313A"/>
                </a:solidFill>
                <a:latin typeface="Aptos"/>
              </a:defRPr>
            </a:pPr>
            <a:r>
              <a:t>- The game combines a readable player loop with fresh procedural worlds.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21408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0">
                <a:solidFill>
                  <a:srgbClr val="24313A"/>
                </a:solidFill>
                <a:latin typeface="Aptos"/>
              </a:defRPr>
            </a:pPr>
            <a:r>
              <a:t>- The AI is explainable, testable, and directly connected to gameplay variety.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96896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0">
                <a:solidFill>
                  <a:srgbClr val="24313A"/>
                </a:solidFill>
                <a:latin typeface="Aptos"/>
              </a:defRPr>
            </a:pPr>
            <a:r>
              <a:t>- The architecture leaves room for stronger monster behavior, more objectives, and automated tests.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72384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0">
                <a:solidFill>
                  <a:srgbClr val="24313A"/>
                </a:solidFill>
                <a:latin typeface="Aptos"/>
              </a:defRPr>
            </a:pPr>
            <a:r>
              <a:t>- The current implementation is local single-player; multiplayer and ML are future possibilities, not present features.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6324F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37A77"/>
                </a:solidFill>
                <a:latin typeface="Aptos"/>
              </a:defRPr>
            </a:pPr>
            <a:r>
              <a:t>Dungeon Exploration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25880"/>
            <a:ext cx="914400" cy="73152"/>
          </a:xfrm>
          <a:prstGeom prst="rect">
            <a:avLst/>
          </a:prstGeom>
          <a:solidFill>
            <a:srgbClr val="237A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40280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800" b="1">
                <a:solidFill>
                  <a:srgbClr val="237A77"/>
                </a:solidFill>
                <a:latin typeface="Aptos"/>
              </a:defRPr>
            </a:pPr>
            <a:r>
              <a:t>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6576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100" b="0">
                <a:solidFill>
                  <a:srgbClr val="16324F"/>
                </a:solidFill>
                <a:latin typeface="Aptos"/>
              </a:defRPr>
            </a:pPr>
            <a:r>
              <a:t>The key takeaway: every run is generated, checked, and tuned before the player enters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